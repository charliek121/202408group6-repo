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7"/>
  </p:notesMasterIdLst>
  <p:handoutMasterIdLst>
    <p:handoutMasterId r:id="rId18"/>
  </p:handoutMasterIdLst>
  <p:sldIdLst>
    <p:sldId id="256" r:id="rId5"/>
    <p:sldId id="277" r:id="rId6"/>
    <p:sldId id="299" r:id="rId7"/>
    <p:sldId id="258" r:id="rId8"/>
    <p:sldId id="294" r:id="rId9"/>
    <p:sldId id="295" r:id="rId10"/>
    <p:sldId id="296" r:id="rId11"/>
    <p:sldId id="264" r:id="rId12"/>
    <p:sldId id="261" r:id="rId13"/>
    <p:sldId id="278" r:id="rId14"/>
    <p:sldId id="293" r:id="rId15"/>
    <p:sldId id="29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D9C8"/>
    <a:srgbClr val="A769BF"/>
    <a:srgbClr val="D9D9D9"/>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915007-CFEF-DE92-643D-D6BCC1BD5063}" v="45" dt="2024-12-06T19:28:56.017"/>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3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12/6/2024</a:t>
            </a:fld>
            <a:endParaRPr lang="en-US"/>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adran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B495A4C6-232E-4A1A-B575-7EF7F414FDF6}"/>
              </a:ext>
            </a:extLst>
          </p:cNvPr>
          <p:cNvSpPr>
            <a:spLocks noGrp="1"/>
          </p:cNvSpPr>
          <p:nvPr>
            <p:ph type="title" hasCustomPrompt="1"/>
          </p:nvPr>
        </p:nvSpPr>
        <p:spPr>
          <a:xfrm>
            <a:off x="838200" y="365125"/>
            <a:ext cx="10515600" cy="1325563"/>
          </a:xfrm>
        </p:spPr>
        <p:txBody>
          <a:bodyPr>
            <a:normAutofit/>
          </a:bodyPr>
          <a:lstStyle>
            <a:lvl1pPr algn="l">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2B4C6F7E-40F0-42B1-AFE0-D3C95660E0DC}"/>
              </a:ext>
            </a:extLst>
          </p:cNvPr>
          <p:cNvSpPr>
            <a:spLocks noGrp="1"/>
          </p:cNvSpPr>
          <p:nvPr>
            <p:ph type="body" sz="quarter" idx="15" hasCustomPrompt="1"/>
          </p:nvPr>
        </p:nvSpPr>
        <p:spPr>
          <a:xfrm>
            <a:off x="5242517" y="1599947"/>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42EE46E3-709F-4AE9-AECE-FD647B6DCFDE}"/>
              </a:ext>
            </a:extLst>
          </p:cNvPr>
          <p:cNvSpPr>
            <a:spLocks noGrp="1"/>
          </p:cNvSpPr>
          <p:nvPr>
            <p:ph type="body" sz="quarter" idx="20" hasCustomPrompt="1"/>
          </p:nvPr>
        </p:nvSpPr>
        <p:spPr>
          <a:xfrm>
            <a:off x="3738732" y="2378452"/>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26" name="Text Placeholder 14">
            <a:extLst>
              <a:ext uri="{FF2B5EF4-FFF2-40B4-BE49-F238E27FC236}">
                <a16:creationId xmlns:a16="http://schemas.microsoft.com/office/drawing/2014/main" id="{3194FB4F-01AC-4A0E-BBE2-CF2B69F6FAC0}"/>
              </a:ext>
            </a:extLst>
          </p:cNvPr>
          <p:cNvSpPr>
            <a:spLocks noGrp="1"/>
          </p:cNvSpPr>
          <p:nvPr>
            <p:ph type="body" sz="quarter" idx="26" hasCustomPrompt="1"/>
          </p:nvPr>
        </p:nvSpPr>
        <p:spPr>
          <a:xfrm>
            <a:off x="7522269" y="2169263"/>
            <a:ext cx="1706965" cy="1048575"/>
          </a:xfrm>
          <a:prstGeom prst="rect">
            <a:avLst/>
          </a:prstGeom>
        </p:spPr>
        <p:txBody>
          <a:bodyPr anchor="ctr">
            <a:noAutofit/>
          </a:bodyPr>
          <a:lstStyle>
            <a:lvl1pPr marL="0" indent="0" algn="ctr">
              <a:lnSpc>
                <a:spcPct val="100000"/>
              </a:lnSpc>
              <a:buNone/>
              <a:defRPr sz="1400" b="1" cap="all" spc="0" baseline="0">
                <a:solidFill>
                  <a:schemeClr val="tx1">
                    <a:lumMod val="75000"/>
                    <a:lumOff val="25000"/>
                  </a:schemeClr>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8E76F955-6B23-4972-8E86-603F19ECF6C5}"/>
              </a:ext>
            </a:extLst>
          </p:cNvPr>
          <p:cNvSpPr>
            <a:spLocks noGrp="1"/>
          </p:cNvSpPr>
          <p:nvPr>
            <p:ph type="body" sz="quarter" idx="25" hasCustomPrompt="1"/>
          </p:nvPr>
        </p:nvSpPr>
        <p:spPr>
          <a:xfrm>
            <a:off x="921894" y="3528829"/>
            <a:ext cx="1393863"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17" name="Text Placeholder 14">
            <a:extLst>
              <a:ext uri="{FF2B5EF4-FFF2-40B4-BE49-F238E27FC236}">
                <a16:creationId xmlns:a16="http://schemas.microsoft.com/office/drawing/2014/main" id="{DDA77547-4FF4-4B15-96F1-DC9B00175B43}"/>
              </a:ext>
            </a:extLst>
          </p:cNvPr>
          <p:cNvSpPr>
            <a:spLocks noGrp="1"/>
          </p:cNvSpPr>
          <p:nvPr>
            <p:ph type="body" sz="quarter" idx="19" hasCustomPrompt="1"/>
          </p:nvPr>
        </p:nvSpPr>
        <p:spPr>
          <a:xfrm>
            <a:off x="9940449" y="3528829"/>
            <a:ext cx="1380681"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6E6B6915-DFCC-44EB-9C61-6B7725D1B794}"/>
              </a:ext>
            </a:extLst>
          </p:cNvPr>
          <p:cNvSpPr>
            <a:spLocks noGrp="1"/>
          </p:cNvSpPr>
          <p:nvPr>
            <p:ph type="body" sz="quarter" idx="22" hasCustomPrompt="1"/>
          </p:nvPr>
        </p:nvSpPr>
        <p:spPr>
          <a:xfrm>
            <a:off x="2637747" y="4634331"/>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19" name="Text Placeholder 14">
            <a:extLst>
              <a:ext uri="{FF2B5EF4-FFF2-40B4-BE49-F238E27FC236}">
                <a16:creationId xmlns:a16="http://schemas.microsoft.com/office/drawing/2014/main" id="{6718CC56-7B04-41D0-A320-CCCDC20D7615}"/>
              </a:ext>
            </a:extLst>
          </p:cNvPr>
          <p:cNvSpPr>
            <a:spLocks noGrp="1"/>
          </p:cNvSpPr>
          <p:nvPr>
            <p:ph type="body" sz="quarter" idx="21" hasCustomPrompt="1"/>
          </p:nvPr>
        </p:nvSpPr>
        <p:spPr>
          <a:xfrm>
            <a:off x="4175224" y="4459860"/>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21" name="Text Placeholder 14">
            <a:extLst>
              <a:ext uri="{FF2B5EF4-FFF2-40B4-BE49-F238E27FC236}">
                <a16:creationId xmlns:a16="http://schemas.microsoft.com/office/drawing/2014/main" id="{778E1C09-B7DB-4CE7-A5B9-90BCF54448B8}"/>
              </a:ext>
            </a:extLst>
          </p:cNvPr>
          <p:cNvSpPr>
            <a:spLocks noGrp="1"/>
          </p:cNvSpPr>
          <p:nvPr>
            <p:ph type="body" sz="quarter" idx="23" hasCustomPrompt="1"/>
          </p:nvPr>
        </p:nvSpPr>
        <p:spPr>
          <a:xfrm>
            <a:off x="6552714" y="4321788"/>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16" name="Text Placeholder 14">
            <a:extLst>
              <a:ext uri="{FF2B5EF4-FFF2-40B4-BE49-F238E27FC236}">
                <a16:creationId xmlns:a16="http://schemas.microsoft.com/office/drawing/2014/main" id="{7CFA026C-42CE-4C20-9DDE-417FDF6CB43D}"/>
              </a:ext>
            </a:extLst>
          </p:cNvPr>
          <p:cNvSpPr>
            <a:spLocks noGrp="1"/>
          </p:cNvSpPr>
          <p:nvPr>
            <p:ph type="body" sz="quarter" idx="17" hasCustomPrompt="1"/>
          </p:nvPr>
        </p:nvSpPr>
        <p:spPr>
          <a:xfrm>
            <a:off x="5242517" y="5468790"/>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2" name="Text Placeholder 14">
            <a:extLst>
              <a:ext uri="{FF2B5EF4-FFF2-40B4-BE49-F238E27FC236}">
                <a16:creationId xmlns:a16="http://schemas.microsoft.com/office/drawing/2014/main" id="{0AFAA95F-1461-496C-BAB4-D5D0594554FF}"/>
              </a:ext>
            </a:extLst>
          </p:cNvPr>
          <p:cNvSpPr>
            <a:spLocks noGrp="1"/>
          </p:cNvSpPr>
          <p:nvPr>
            <p:ph type="body" sz="quarter" idx="24" hasCustomPrompt="1"/>
          </p:nvPr>
        </p:nvSpPr>
        <p:spPr>
          <a:xfrm>
            <a:off x="7801857" y="5195673"/>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cxnSp>
        <p:nvCxnSpPr>
          <p:cNvPr id="24" name="Straight Connector 23">
            <a:extLst>
              <a:ext uri="{FF2B5EF4-FFF2-40B4-BE49-F238E27FC236}">
                <a16:creationId xmlns:a16="http://schemas.microsoft.com/office/drawing/2014/main" id="{DD194B4E-75F4-47BE-B171-9C64697AB920}"/>
              </a:ext>
              <a:ext uri="{C183D7F6-B498-43B3-948B-1728B52AA6E4}">
                <adec:decorative xmlns:adec="http://schemas.microsoft.com/office/drawing/2017/decorative" val="1"/>
              </a:ext>
            </a:extLst>
          </p:cNvPr>
          <p:cNvCxnSpPr>
            <a:cxnSpLocks/>
            <a:endCxn id="17" idx="1"/>
          </p:cNvCxnSpPr>
          <p:nvPr userDrawn="1"/>
        </p:nvCxnSpPr>
        <p:spPr>
          <a:xfrm>
            <a:off x="2315757" y="3774842"/>
            <a:ext cx="7624692" cy="0"/>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FDA35F-76DF-4FDC-90C9-F9FEDF32270C}"/>
              </a:ext>
              <a:ext uri="{C183D7F6-B498-43B3-948B-1728B52AA6E4}">
                <adec:decorative xmlns:adec="http://schemas.microsoft.com/office/drawing/2017/decorative" val="1"/>
              </a:ext>
            </a:extLst>
          </p:cNvPr>
          <p:cNvCxnSpPr>
            <a:cxnSpLocks/>
          </p:cNvCxnSpPr>
          <p:nvPr userDrawn="1"/>
        </p:nvCxnSpPr>
        <p:spPr>
          <a:xfrm flipV="1">
            <a:off x="6096000" y="2091972"/>
            <a:ext cx="4678" cy="3376818"/>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Date Placeholder 2">
            <a:extLst>
              <a:ext uri="{FF2B5EF4-FFF2-40B4-BE49-F238E27FC236}">
                <a16:creationId xmlns:a16="http://schemas.microsoft.com/office/drawing/2014/main" id="{B8C04945-62C9-4964-8891-6D30EA90D21A}"/>
              </a:ext>
            </a:extLst>
          </p:cNvPr>
          <p:cNvSpPr>
            <a:spLocks noGrp="1"/>
          </p:cNvSpPr>
          <p:nvPr>
            <p:ph type="dt" sz="half" idx="10"/>
          </p:nvPr>
        </p:nvSpPr>
        <p:spPr>
          <a:xfrm>
            <a:off x="838200" y="6356350"/>
            <a:ext cx="2743200" cy="365125"/>
          </a:xfrm>
        </p:spPr>
        <p:txBody>
          <a:bodyPr/>
          <a:lstStyle>
            <a:lvl1pPr>
              <a:defRPr sz="900"/>
            </a:lvl1pPr>
          </a:lstStyle>
          <a:p>
            <a:r>
              <a:rPr lang="en-US"/>
              <a:t>20XX</a:t>
            </a:r>
          </a:p>
        </p:txBody>
      </p:sp>
      <p:sp>
        <p:nvSpPr>
          <p:cNvPr id="32" name="Footer Placeholder 3">
            <a:extLst>
              <a:ext uri="{FF2B5EF4-FFF2-40B4-BE49-F238E27FC236}">
                <a16:creationId xmlns:a16="http://schemas.microsoft.com/office/drawing/2014/main" id="{51029B8B-F669-4889-98DD-901661178D55}"/>
              </a:ext>
            </a:extLst>
          </p:cNvPr>
          <p:cNvSpPr>
            <a:spLocks noGrp="1"/>
          </p:cNvSpPr>
          <p:nvPr>
            <p:ph type="ftr" sz="quarter" idx="11"/>
          </p:nvPr>
        </p:nvSpPr>
        <p:spPr>
          <a:xfrm>
            <a:off x="4038600" y="6356350"/>
            <a:ext cx="4114800" cy="365125"/>
          </a:xfrm>
        </p:spPr>
        <p:txBody>
          <a:bodyPr/>
          <a:lstStyle>
            <a:lvl1pPr>
              <a:defRPr sz="900"/>
            </a:lvl1pPr>
          </a:lstStyle>
          <a:p>
            <a:r>
              <a:rPr lang="en-US"/>
              <a:t>Pitch Deck</a:t>
            </a:r>
          </a:p>
        </p:txBody>
      </p:sp>
      <p:sp>
        <p:nvSpPr>
          <p:cNvPr id="33" name="Slide Number Placeholder 4">
            <a:extLst>
              <a:ext uri="{FF2B5EF4-FFF2-40B4-BE49-F238E27FC236}">
                <a16:creationId xmlns:a16="http://schemas.microsoft.com/office/drawing/2014/main" id="{7A0B84D6-438D-4B3B-B52C-6F5EC159BC73}"/>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4026250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2290034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a:p>
        </p:txBody>
      </p:sp>
    </p:spTree>
    <p:extLst>
      <p:ext uri="{BB962C8B-B14F-4D97-AF65-F5344CB8AC3E}">
        <p14:creationId xmlns:p14="http://schemas.microsoft.com/office/powerpoint/2010/main" val="205632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685" r:id="rId12"/>
    <p:sldLayoutId id="2147483700" r:id="rId13"/>
    <p:sldLayoutId id="2147483701" r:id="rId14"/>
    <p:sldLayoutId id="2147483692" r:id="rId15"/>
    <p:sldLayoutId id="2147483681" r:id="rId16"/>
    <p:sldLayoutId id="2147483674" r:id="rId17"/>
    <p:sldLayoutId id="2147483675" r:id="rId18"/>
    <p:sldLayoutId id="2147483696" r:id="rId19"/>
    <p:sldLayoutId id="2147483677" r:id="rId20"/>
    <p:sldLayoutId id="2147483678"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27.png"/><Relationship Id="rId1" Type="http://schemas.openxmlformats.org/officeDocument/2006/relationships/slideLayout" Target="../slideLayouts/slideLayout15.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2123316" y="1123650"/>
            <a:ext cx="8431806" cy="1824647"/>
          </a:xfrm>
        </p:spPr>
        <p:txBody>
          <a:bodyPr/>
          <a:lstStyle/>
          <a:p>
            <a:r>
              <a:rPr lang="en-US" sz="4400" b="1">
                <a:solidFill>
                  <a:srgbClr val="C36E31"/>
                </a:solidFill>
              </a:rPr>
              <a:t>Change management plan</a:t>
            </a:r>
            <a:br>
              <a:rPr lang="en-US" sz="4400" b="1">
                <a:solidFill>
                  <a:srgbClr val="C36E31"/>
                </a:solidFill>
              </a:rPr>
            </a:br>
            <a:r>
              <a:rPr lang="en-US" sz="4400" b="1">
                <a:solidFill>
                  <a:srgbClr val="C36E31"/>
                </a:solidFill>
              </a:rPr>
              <a:t>&amp; Role descriptions</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5257467" y="3335090"/>
            <a:ext cx="1669181" cy="396660"/>
          </a:xfrm>
        </p:spPr>
        <p:txBody>
          <a:bodyPr vert="horz" lIns="91440" tIns="45720" rIns="91440" bIns="45720" rtlCol="0" anchor="t">
            <a:noAutofit/>
          </a:bodyPr>
          <a:lstStyle/>
          <a:p>
            <a:r>
              <a:rPr lang="en-US" sz="3200" b="1">
                <a:solidFill>
                  <a:schemeClr val="tx1">
                    <a:lumMod val="65000"/>
                    <a:lumOff val="35000"/>
                  </a:schemeClr>
                </a:solidFill>
              </a:rPr>
              <a:t>Group 6 </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865950" y="-1775"/>
            <a:ext cx="7361049" cy="1580834"/>
          </a:xfrm>
        </p:spPr>
        <p:txBody>
          <a:bodyPr>
            <a:noAutofit/>
          </a:bodyPr>
          <a:lstStyle/>
          <a:p>
            <a:r>
              <a:rPr lang="en-US" sz="4000" b="1">
                <a:solidFill>
                  <a:schemeClr val="accent1">
                    <a:lumMod val="49000"/>
                  </a:schemeClr>
                </a:solidFill>
              </a:rPr>
              <a:t>What is a change management plan?</a:t>
            </a:r>
          </a:p>
        </p:txBody>
      </p:sp>
      <p:sp>
        <p:nvSpPr>
          <p:cNvPr id="7" name="Rectangle 6">
            <a:extLst>
              <a:ext uri="{FF2B5EF4-FFF2-40B4-BE49-F238E27FC236}">
                <a16:creationId xmlns:a16="http://schemas.microsoft.com/office/drawing/2014/main" id="{4E0DF15F-D6F6-810B-50C6-C1E582948D9C}"/>
              </a:ext>
            </a:extLst>
          </p:cNvPr>
          <p:cNvSpPr/>
          <p:nvPr/>
        </p:nvSpPr>
        <p:spPr>
          <a:xfrm>
            <a:off x="-2589" y="1584096"/>
            <a:ext cx="12210691" cy="4498387"/>
          </a:xfrm>
          <a:prstGeom prst="rect">
            <a:avLst/>
          </a:prstGeom>
          <a:solidFill>
            <a:srgbClr val="F1D9C8">
              <a:alpha val="5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865950" y="1600703"/>
            <a:ext cx="10063146" cy="5074677"/>
          </a:xfrm>
          <a:prstGeom prst="rect">
            <a:avLst/>
          </a:prstGeom>
          <a:noFill/>
          <a:ln>
            <a:noFill/>
          </a:ln>
        </p:spPr>
        <p:txBody>
          <a:bodyPr vert="horz" lIns="91440" tIns="45720" rIns="91440" bIns="45720" rtlCol="0" anchor="t">
            <a:noAutofit/>
          </a:bodyPr>
          <a:lstStyle/>
          <a:p>
            <a:r>
              <a:rPr lang="en-US" sz="2400"/>
              <a:t>A plan that reflects how an idea is processed as a request and is eventually implemented in some form of functionality to be deployed. An idea must be established by the customer and product owner. It must then be broken into a backlog of items to be prioritized and completed within increments. During development, the delegation of work and prioritization must be consistently inspected and realigned with the product goal when needed. Improved and/or maintained development efficiency are contingent upon increment and sprint:  planning, review, and retrospective. The result is a developed product that aligns with the established idea, the market, and the needs of the customer.</a:t>
            </a:r>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a:lstStyle/>
          <a:p>
            <a:r>
              <a:rPr lang="en-US"/>
              <a:t>20XX</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C9848B0-F380-3758-6D4D-5324F373B307}"/>
              </a:ext>
            </a:extLst>
          </p:cNvPr>
          <p:cNvSpPr>
            <a:spLocks noGrp="1"/>
          </p:cNvSpPr>
          <p:nvPr>
            <p:ph type="body" sz="quarter" idx="33"/>
          </p:nvPr>
        </p:nvSpPr>
        <p:spPr>
          <a:xfrm>
            <a:off x="1280159" y="259531"/>
            <a:ext cx="680720" cy="457200"/>
          </a:xfrm>
          <a:solidFill>
            <a:srgbClr val="F1D9C8"/>
          </a:solidFill>
        </p:spPr>
        <p:txBody>
          <a:bodyPr>
            <a:normAutofit fontScale="77500" lnSpcReduction="20000"/>
          </a:bodyPr>
          <a:lstStyle/>
          <a:p>
            <a:r>
              <a:rPr lang="en-US"/>
              <a:t>New Request</a:t>
            </a:r>
          </a:p>
        </p:txBody>
      </p:sp>
      <p:sp>
        <p:nvSpPr>
          <p:cNvPr id="6" name="Text Placeholder 5">
            <a:extLst>
              <a:ext uri="{FF2B5EF4-FFF2-40B4-BE49-F238E27FC236}">
                <a16:creationId xmlns:a16="http://schemas.microsoft.com/office/drawing/2014/main" id="{40D3E878-8039-A9EE-9620-6A79834C9AB8}"/>
              </a:ext>
            </a:extLst>
          </p:cNvPr>
          <p:cNvSpPr>
            <a:spLocks noGrp="1"/>
          </p:cNvSpPr>
          <p:nvPr>
            <p:ph type="body" sz="quarter" idx="36"/>
          </p:nvPr>
        </p:nvSpPr>
        <p:spPr>
          <a:xfrm>
            <a:off x="270280" y="1399032"/>
            <a:ext cx="640080" cy="201776"/>
          </a:xfrm>
        </p:spPr>
        <p:txBody>
          <a:bodyPr vert="horz" lIns="91440" tIns="45720" rIns="91440" bIns="45720" rtlCol="0" anchor="t">
            <a:noAutofit/>
          </a:bodyPr>
          <a:lstStyle/>
          <a:p>
            <a:r>
              <a:rPr lang="en-US"/>
              <a:t>Who</a:t>
            </a:r>
          </a:p>
        </p:txBody>
      </p:sp>
      <p:sp>
        <p:nvSpPr>
          <p:cNvPr id="7" name="Text Placeholder 6">
            <a:extLst>
              <a:ext uri="{FF2B5EF4-FFF2-40B4-BE49-F238E27FC236}">
                <a16:creationId xmlns:a16="http://schemas.microsoft.com/office/drawing/2014/main" id="{A9A0AB2E-1E29-BD16-F85E-F5E6CF871198}"/>
              </a:ext>
            </a:extLst>
          </p:cNvPr>
          <p:cNvSpPr>
            <a:spLocks noGrp="1"/>
          </p:cNvSpPr>
          <p:nvPr>
            <p:ph type="body" sz="quarter" idx="37"/>
          </p:nvPr>
        </p:nvSpPr>
        <p:spPr>
          <a:xfrm>
            <a:off x="265720" y="2557272"/>
            <a:ext cx="640080" cy="201776"/>
          </a:xfrm>
        </p:spPr>
        <p:txBody>
          <a:bodyPr vert="horz" lIns="91440" tIns="45720" rIns="91440" bIns="45720" rtlCol="0" anchor="t">
            <a:noAutofit/>
          </a:bodyPr>
          <a:lstStyle/>
          <a:p>
            <a:r>
              <a:rPr lang="en-US"/>
              <a:t>When</a:t>
            </a:r>
          </a:p>
        </p:txBody>
      </p:sp>
      <p:sp>
        <p:nvSpPr>
          <p:cNvPr id="9" name="Text Placeholder 8">
            <a:extLst>
              <a:ext uri="{FF2B5EF4-FFF2-40B4-BE49-F238E27FC236}">
                <a16:creationId xmlns:a16="http://schemas.microsoft.com/office/drawing/2014/main" id="{E5963802-13C3-D559-E957-5BDAD7A5DA3D}"/>
              </a:ext>
            </a:extLst>
          </p:cNvPr>
          <p:cNvSpPr>
            <a:spLocks noGrp="1"/>
          </p:cNvSpPr>
          <p:nvPr>
            <p:ph type="body" sz="quarter" idx="39"/>
          </p:nvPr>
        </p:nvSpPr>
        <p:spPr>
          <a:xfrm>
            <a:off x="271320" y="3227832"/>
            <a:ext cx="640080" cy="201776"/>
          </a:xfrm>
        </p:spPr>
        <p:txBody>
          <a:bodyPr vert="horz" lIns="91440" tIns="45720" rIns="91440" bIns="45720" rtlCol="0" anchor="t">
            <a:noAutofit/>
          </a:bodyPr>
          <a:lstStyle/>
          <a:p>
            <a:r>
              <a:rPr lang="en-US"/>
              <a:t>Time</a:t>
            </a:r>
          </a:p>
        </p:txBody>
      </p:sp>
      <p:sp>
        <p:nvSpPr>
          <p:cNvPr id="19" name="Text Placeholder 18">
            <a:extLst>
              <a:ext uri="{FF2B5EF4-FFF2-40B4-BE49-F238E27FC236}">
                <a16:creationId xmlns:a16="http://schemas.microsoft.com/office/drawing/2014/main" id="{F11BE09D-B2B3-FCEB-D6BC-EB54AE889A78}"/>
              </a:ext>
            </a:extLst>
          </p:cNvPr>
          <p:cNvSpPr>
            <a:spLocks noGrp="1"/>
          </p:cNvSpPr>
          <p:nvPr>
            <p:ph type="body" sz="quarter" idx="49"/>
          </p:nvPr>
        </p:nvSpPr>
        <p:spPr>
          <a:xfrm>
            <a:off x="232294" y="3996610"/>
            <a:ext cx="640080" cy="201776"/>
          </a:xfrm>
        </p:spPr>
        <p:txBody>
          <a:bodyPr vert="horz" lIns="91440" tIns="45720" rIns="91440" bIns="45720" rtlCol="0" anchor="t">
            <a:noAutofit/>
          </a:bodyPr>
          <a:lstStyle/>
          <a:p>
            <a:r>
              <a:rPr lang="en-US" sz="1100" b="1"/>
              <a:t>Actions</a:t>
            </a:r>
          </a:p>
        </p:txBody>
      </p:sp>
      <p:sp>
        <p:nvSpPr>
          <p:cNvPr id="23" name="Text Placeholder 22">
            <a:extLst>
              <a:ext uri="{FF2B5EF4-FFF2-40B4-BE49-F238E27FC236}">
                <a16:creationId xmlns:a16="http://schemas.microsoft.com/office/drawing/2014/main" id="{23923641-AE8E-E590-AD90-363D0B23B09A}"/>
              </a:ext>
            </a:extLst>
          </p:cNvPr>
          <p:cNvSpPr>
            <a:spLocks noGrp="1"/>
          </p:cNvSpPr>
          <p:nvPr>
            <p:ph type="body" sz="quarter" idx="53"/>
          </p:nvPr>
        </p:nvSpPr>
        <p:spPr>
          <a:xfrm>
            <a:off x="129059" y="5419845"/>
            <a:ext cx="848846" cy="191338"/>
          </a:xfrm>
        </p:spPr>
        <p:txBody>
          <a:bodyPr vert="horz" lIns="91440" tIns="45720" rIns="91440" bIns="45720" rtlCol="0" anchor="t">
            <a:noAutofit/>
          </a:bodyPr>
          <a:lstStyle/>
          <a:p>
            <a:r>
              <a:rPr lang="en-US"/>
              <a:t>Outcome</a:t>
            </a:r>
          </a:p>
        </p:txBody>
      </p:sp>
      <p:sp>
        <p:nvSpPr>
          <p:cNvPr id="29" name="Date Placeholder 28">
            <a:extLst>
              <a:ext uri="{FF2B5EF4-FFF2-40B4-BE49-F238E27FC236}">
                <a16:creationId xmlns:a16="http://schemas.microsoft.com/office/drawing/2014/main" id="{E765F654-42CB-C71C-90F9-AF8FD42F5A1E}"/>
              </a:ext>
            </a:extLst>
          </p:cNvPr>
          <p:cNvSpPr>
            <a:spLocks noGrp="1"/>
          </p:cNvSpPr>
          <p:nvPr>
            <p:ph type="dt" sz="half" idx="10"/>
          </p:nvPr>
        </p:nvSpPr>
        <p:spPr/>
        <p:txBody>
          <a:bodyPr/>
          <a:lstStyle/>
          <a:p>
            <a:r>
              <a:rPr lang="en-US" noProof="0"/>
              <a:t>20XX</a:t>
            </a:r>
          </a:p>
        </p:txBody>
      </p:sp>
      <p:sp>
        <p:nvSpPr>
          <p:cNvPr id="35" name="Text Placeholder 2">
            <a:extLst>
              <a:ext uri="{FF2B5EF4-FFF2-40B4-BE49-F238E27FC236}">
                <a16:creationId xmlns:a16="http://schemas.microsoft.com/office/drawing/2014/main" id="{755439C2-C9E4-0196-42D3-F0F378972287}"/>
              </a:ext>
            </a:extLst>
          </p:cNvPr>
          <p:cNvSpPr txBox="1">
            <a:spLocks/>
          </p:cNvSpPr>
          <p:nvPr/>
        </p:nvSpPr>
        <p:spPr>
          <a:xfrm>
            <a:off x="1067200" y="1128486"/>
            <a:ext cx="1150121" cy="117319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Product Manager</a:t>
            </a:r>
          </a:p>
          <a:p>
            <a:r>
              <a:rPr lang="en-US" sz="1100"/>
              <a:t>(Jonathan Little)</a:t>
            </a:r>
          </a:p>
        </p:txBody>
      </p:sp>
      <p:sp>
        <p:nvSpPr>
          <p:cNvPr id="37" name="Arrow: Right 36">
            <a:extLst>
              <a:ext uri="{FF2B5EF4-FFF2-40B4-BE49-F238E27FC236}">
                <a16:creationId xmlns:a16="http://schemas.microsoft.com/office/drawing/2014/main" id="{85C15158-1DE6-202F-DFE5-969BDAD8D981}"/>
              </a:ext>
            </a:extLst>
          </p:cNvPr>
          <p:cNvSpPr/>
          <p:nvPr/>
        </p:nvSpPr>
        <p:spPr>
          <a:xfrm rot="5400000">
            <a:off x="1435512" y="812696"/>
            <a:ext cx="386079" cy="248919"/>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 Placeholder 2">
            <a:extLst>
              <a:ext uri="{FF2B5EF4-FFF2-40B4-BE49-F238E27FC236}">
                <a16:creationId xmlns:a16="http://schemas.microsoft.com/office/drawing/2014/main" id="{B9AE424C-52E9-303E-201C-F6944BD08D10}"/>
              </a:ext>
            </a:extLst>
          </p:cNvPr>
          <p:cNvSpPr txBox="1">
            <a:spLocks/>
          </p:cNvSpPr>
          <p:nvPr/>
        </p:nvSpPr>
        <p:spPr>
          <a:xfrm>
            <a:off x="1067199" y="2489926"/>
            <a:ext cx="1150121" cy="32991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Friday 8:00PM</a:t>
            </a:r>
          </a:p>
        </p:txBody>
      </p:sp>
      <p:sp>
        <p:nvSpPr>
          <p:cNvPr id="39" name="Text Placeholder 2">
            <a:extLst>
              <a:ext uri="{FF2B5EF4-FFF2-40B4-BE49-F238E27FC236}">
                <a16:creationId xmlns:a16="http://schemas.microsoft.com/office/drawing/2014/main" id="{1A98CDA0-5A89-4DE3-3C19-245A01DD07D6}"/>
              </a:ext>
            </a:extLst>
          </p:cNvPr>
          <p:cNvSpPr txBox="1">
            <a:spLocks/>
          </p:cNvSpPr>
          <p:nvPr/>
        </p:nvSpPr>
        <p:spPr>
          <a:xfrm>
            <a:off x="1067198" y="3099526"/>
            <a:ext cx="1150121" cy="32991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1 Hour</a:t>
            </a:r>
          </a:p>
        </p:txBody>
      </p:sp>
      <p:sp>
        <p:nvSpPr>
          <p:cNvPr id="40" name="Text Placeholder 2">
            <a:extLst>
              <a:ext uri="{FF2B5EF4-FFF2-40B4-BE49-F238E27FC236}">
                <a16:creationId xmlns:a16="http://schemas.microsoft.com/office/drawing/2014/main" id="{516FEA4F-ED8E-8A17-4CAD-4AFB188A78D0}"/>
              </a:ext>
            </a:extLst>
          </p:cNvPr>
          <p:cNvSpPr txBox="1">
            <a:spLocks/>
          </p:cNvSpPr>
          <p:nvPr/>
        </p:nvSpPr>
        <p:spPr>
          <a:xfrm>
            <a:off x="910625" y="3513581"/>
            <a:ext cx="1461323" cy="1590729"/>
          </a:xfrm>
          <a:prstGeom prst="roundRect">
            <a:avLst/>
          </a:prstGeom>
          <a:solidFill>
            <a:schemeClr val="accent5">
              <a:lumMod val="40000"/>
              <a:lumOff val="60000"/>
            </a:schemeClr>
          </a:solidFill>
        </p:spPr>
        <p:txBody>
          <a:bodyPr vert="horz" lIns="91440" tIns="45720" rIns="91440" bIns="45720" rtlCol="0" anchor="ctr">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a:t>Product Backlog refinement</a:t>
            </a:r>
            <a:endParaRPr lang="en-US" err="1"/>
          </a:p>
          <a:p>
            <a:r>
              <a:rPr lang="en-US" sz="1100"/>
              <a:t>Define new request based on product and its boundaries, evaluate request against the existing product roadmap</a:t>
            </a:r>
            <a:endParaRPr lang="en-US"/>
          </a:p>
        </p:txBody>
      </p:sp>
      <p:sp>
        <p:nvSpPr>
          <p:cNvPr id="41" name="Text Placeholder 2">
            <a:extLst>
              <a:ext uri="{FF2B5EF4-FFF2-40B4-BE49-F238E27FC236}">
                <a16:creationId xmlns:a16="http://schemas.microsoft.com/office/drawing/2014/main" id="{48544AB5-3208-6CCE-9F6F-5FFA3DF729D7}"/>
              </a:ext>
            </a:extLst>
          </p:cNvPr>
          <p:cNvSpPr txBox="1">
            <a:spLocks/>
          </p:cNvSpPr>
          <p:nvPr/>
        </p:nvSpPr>
        <p:spPr>
          <a:xfrm>
            <a:off x="7042670" y="3593887"/>
            <a:ext cx="1221241" cy="117319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300">
                <a:solidFill>
                  <a:srgbClr val="424242"/>
                </a:solidFill>
                <a:latin typeface="Nunito"/>
              </a:rPr>
              <a:t>Sprint Planning</a:t>
            </a:r>
            <a:endParaRPr lang="en-US"/>
          </a:p>
        </p:txBody>
      </p:sp>
      <p:sp>
        <p:nvSpPr>
          <p:cNvPr id="60" name="Text Placeholder 2">
            <a:extLst>
              <a:ext uri="{FF2B5EF4-FFF2-40B4-BE49-F238E27FC236}">
                <a16:creationId xmlns:a16="http://schemas.microsoft.com/office/drawing/2014/main" id="{16C25E60-751F-9271-8158-9BFD7849F64A}"/>
              </a:ext>
            </a:extLst>
          </p:cNvPr>
          <p:cNvSpPr txBox="1">
            <a:spLocks/>
          </p:cNvSpPr>
          <p:nvPr/>
        </p:nvSpPr>
        <p:spPr>
          <a:xfrm>
            <a:off x="2956959" y="1057366"/>
            <a:ext cx="1150121" cy="117319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Product Manager (Jonothan Little) &amp; Dev Team (Entire Group)</a:t>
            </a:r>
          </a:p>
        </p:txBody>
      </p:sp>
      <p:sp>
        <p:nvSpPr>
          <p:cNvPr id="61" name="Text Placeholder 2">
            <a:extLst>
              <a:ext uri="{FF2B5EF4-FFF2-40B4-BE49-F238E27FC236}">
                <a16:creationId xmlns:a16="http://schemas.microsoft.com/office/drawing/2014/main" id="{778BC0C6-E8DB-1C8E-200E-44861E05146E}"/>
              </a:ext>
            </a:extLst>
          </p:cNvPr>
          <p:cNvSpPr txBox="1">
            <a:spLocks/>
          </p:cNvSpPr>
          <p:nvPr/>
        </p:nvSpPr>
        <p:spPr>
          <a:xfrm>
            <a:off x="2956958" y="2489926"/>
            <a:ext cx="1150121" cy="329916"/>
          </a:xfrm>
          <a:prstGeom prst="roundRect">
            <a:avLst/>
          </a:prstGeom>
          <a:solidFill>
            <a:schemeClr val="accent5">
              <a:lumMod val="40000"/>
              <a:lumOff val="60000"/>
            </a:schemeClr>
          </a:solidFill>
        </p:spPr>
        <p:txBody>
          <a:bodyPr vert="horz" lIns="91440" tIns="45720" rIns="91440" bIns="45720" rtlCol="0" anchor="ctr">
            <a:normAutofit fontScale="85000" lnSpcReduction="100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Saturday 5:00PM</a:t>
            </a:r>
          </a:p>
        </p:txBody>
      </p:sp>
      <p:sp>
        <p:nvSpPr>
          <p:cNvPr id="62" name="Text Placeholder 2">
            <a:extLst>
              <a:ext uri="{FF2B5EF4-FFF2-40B4-BE49-F238E27FC236}">
                <a16:creationId xmlns:a16="http://schemas.microsoft.com/office/drawing/2014/main" id="{54C5897B-97A6-7402-85A2-7CDCCE7FB661}"/>
              </a:ext>
            </a:extLst>
          </p:cNvPr>
          <p:cNvSpPr txBox="1">
            <a:spLocks/>
          </p:cNvSpPr>
          <p:nvPr/>
        </p:nvSpPr>
        <p:spPr>
          <a:xfrm>
            <a:off x="2956957" y="3099526"/>
            <a:ext cx="1150121" cy="32991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1 Hour</a:t>
            </a:r>
          </a:p>
        </p:txBody>
      </p:sp>
      <p:sp>
        <p:nvSpPr>
          <p:cNvPr id="63" name="Text Placeholder 2">
            <a:extLst>
              <a:ext uri="{FF2B5EF4-FFF2-40B4-BE49-F238E27FC236}">
                <a16:creationId xmlns:a16="http://schemas.microsoft.com/office/drawing/2014/main" id="{2487C784-08D5-33C3-7445-9C0216E391E3}"/>
              </a:ext>
            </a:extLst>
          </p:cNvPr>
          <p:cNvSpPr txBox="1">
            <a:spLocks/>
          </p:cNvSpPr>
          <p:nvPr/>
        </p:nvSpPr>
        <p:spPr>
          <a:xfrm>
            <a:off x="2956958" y="3607526"/>
            <a:ext cx="1221241" cy="117319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Review feasibility with Dev Team (Entire Group)</a:t>
            </a:r>
          </a:p>
        </p:txBody>
      </p:sp>
      <p:sp>
        <p:nvSpPr>
          <p:cNvPr id="65" name="Arrow: Bent 64">
            <a:extLst>
              <a:ext uri="{FF2B5EF4-FFF2-40B4-BE49-F238E27FC236}">
                <a16:creationId xmlns:a16="http://schemas.microsoft.com/office/drawing/2014/main" id="{67CE7274-0CA5-0C81-9556-E797191DC7AC}"/>
              </a:ext>
            </a:extLst>
          </p:cNvPr>
          <p:cNvSpPr/>
          <p:nvPr/>
        </p:nvSpPr>
        <p:spPr>
          <a:xfrm>
            <a:off x="2422812" y="1188720"/>
            <a:ext cx="407095" cy="84717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8" name="Arrow: Bent-Up 67">
            <a:extLst>
              <a:ext uri="{FF2B5EF4-FFF2-40B4-BE49-F238E27FC236}">
                <a16:creationId xmlns:a16="http://schemas.microsoft.com/office/drawing/2014/main" id="{DB58DBBE-0102-D8E9-5173-6B67F1B414DB}"/>
              </a:ext>
            </a:extLst>
          </p:cNvPr>
          <p:cNvSpPr/>
          <p:nvPr/>
        </p:nvSpPr>
        <p:spPr>
          <a:xfrm>
            <a:off x="2161435" y="1612378"/>
            <a:ext cx="415585" cy="418411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9414319F-BDE5-7FCC-DA38-CB3239817B25}"/>
              </a:ext>
            </a:extLst>
          </p:cNvPr>
          <p:cNvSpPr/>
          <p:nvPr/>
        </p:nvSpPr>
        <p:spPr>
          <a:xfrm>
            <a:off x="943627" y="6322303"/>
            <a:ext cx="3180776" cy="272232"/>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Evaluation of Request</a:t>
            </a:r>
          </a:p>
        </p:txBody>
      </p:sp>
      <p:sp>
        <p:nvSpPr>
          <p:cNvPr id="71" name="Rectangle 70">
            <a:extLst>
              <a:ext uri="{FF2B5EF4-FFF2-40B4-BE49-F238E27FC236}">
                <a16:creationId xmlns:a16="http://schemas.microsoft.com/office/drawing/2014/main" id="{D710C744-3F4B-D6AE-0E80-C0D2E367C582}"/>
              </a:ext>
            </a:extLst>
          </p:cNvPr>
          <p:cNvSpPr/>
          <p:nvPr/>
        </p:nvSpPr>
        <p:spPr>
          <a:xfrm>
            <a:off x="4328019" y="6322303"/>
            <a:ext cx="2523160" cy="27223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Team Backlog</a:t>
            </a:r>
          </a:p>
        </p:txBody>
      </p:sp>
      <p:sp>
        <p:nvSpPr>
          <p:cNvPr id="72" name="Rectangle 71">
            <a:extLst>
              <a:ext uri="{FF2B5EF4-FFF2-40B4-BE49-F238E27FC236}">
                <a16:creationId xmlns:a16="http://schemas.microsoft.com/office/drawing/2014/main" id="{4EBBC872-33E1-157C-BE0C-F7A707DE348D}"/>
              </a:ext>
            </a:extLst>
          </p:cNvPr>
          <p:cNvSpPr/>
          <p:nvPr/>
        </p:nvSpPr>
        <p:spPr>
          <a:xfrm>
            <a:off x="6979221" y="6322302"/>
            <a:ext cx="1635900" cy="272232"/>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Sprint Plan</a:t>
            </a:r>
          </a:p>
        </p:txBody>
      </p:sp>
      <p:sp>
        <p:nvSpPr>
          <p:cNvPr id="73" name="Text Placeholder 2">
            <a:extLst>
              <a:ext uri="{FF2B5EF4-FFF2-40B4-BE49-F238E27FC236}">
                <a16:creationId xmlns:a16="http://schemas.microsoft.com/office/drawing/2014/main" id="{5F990F68-FF95-1F92-58E3-C26479DC6A9C}"/>
              </a:ext>
            </a:extLst>
          </p:cNvPr>
          <p:cNvSpPr txBox="1">
            <a:spLocks/>
          </p:cNvSpPr>
          <p:nvPr/>
        </p:nvSpPr>
        <p:spPr>
          <a:xfrm>
            <a:off x="1068032" y="5198330"/>
            <a:ext cx="1148173" cy="849608"/>
          </a:xfrm>
          <a:prstGeom prst="roundRect">
            <a:avLst/>
          </a:prstGeom>
          <a:solidFill>
            <a:schemeClr val="accent5">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t>Prioritize request within Product Backlog</a:t>
            </a:r>
          </a:p>
        </p:txBody>
      </p:sp>
      <p:sp>
        <p:nvSpPr>
          <p:cNvPr id="75" name="Arrow: Bent 74">
            <a:extLst>
              <a:ext uri="{FF2B5EF4-FFF2-40B4-BE49-F238E27FC236}">
                <a16:creationId xmlns:a16="http://schemas.microsoft.com/office/drawing/2014/main" id="{74A545F3-A48B-240F-8CF3-AC64C6CAF43F}"/>
              </a:ext>
            </a:extLst>
          </p:cNvPr>
          <p:cNvSpPr/>
          <p:nvPr/>
        </p:nvSpPr>
        <p:spPr>
          <a:xfrm>
            <a:off x="4383692" y="1178560"/>
            <a:ext cx="407095" cy="84717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6" name="Arrow: Bent-Up 75">
            <a:extLst>
              <a:ext uri="{FF2B5EF4-FFF2-40B4-BE49-F238E27FC236}">
                <a16:creationId xmlns:a16="http://schemas.microsoft.com/office/drawing/2014/main" id="{F17F36AE-6A52-AF35-E5EF-33125F191F60}"/>
              </a:ext>
            </a:extLst>
          </p:cNvPr>
          <p:cNvSpPr/>
          <p:nvPr/>
        </p:nvSpPr>
        <p:spPr>
          <a:xfrm>
            <a:off x="4122315" y="1612377"/>
            <a:ext cx="415585" cy="418411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7" name="Text Placeholder 2">
            <a:extLst>
              <a:ext uri="{FF2B5EF4-FFF2-40B4-BE49-F238E27FC236}">
                <a16:creationId xmlns:a16="http://schemas.microsoft.com/office/drawing/2014/main" id="{6BC035CA-2C86-28A1-5B1C-E1E8D870DC90}"/>
              </a:ext>
            </a:extLst>
          </p:cNvPr>
          <p:cNvSpPr txBox="1">
            <a:spLocks/>
          </p:cNvSpPr>
          <p:nvPr/>
        </p:nvSpPr>
        <p:spPr>
          <a:xfrm>
            <a:off x="2956957" y="4979126"/>
            <a:ext cx="1221241" cy="1173196"/>
          </a:xfrm>
          <a:prstGeom prst="roundRect">
            <a:avLst/>
          </a:prstGeom>
          <a:solidFill>
            <a:schemeClr val="accent5">
              <a:lumMod val="40000"/>
              <a:lumOff val="60000"/>
            </a:schemeClr>
          </a:solidFill>
        </p:spPr>
        <p:txBody>
          <a:bodyPr vert="horz"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Send to Team Backlog if request is approved by Product Manager</a:t>
            </a:r>
          </a:p>
        </p:txBody>
      </p:sp>
      <p:pic>
        <p:nvPicPr>
          <p:cNvPr id="78" name="Graphic 77" descr="Stopwatch 33% with solid fill">
            <a:extLst>
              <a:ext uri="{FF2B5EF4-FFF2-40B4-BE49-F238E27FC236}">
                <a16:creationId xmlns:a16="http://schemas.microsoft.com/office/drawing/2014/main" id="{DE6BF778-6ED1-B08E-65D2-682EA8F8C0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348" y="3180566"/>
            <a:ext cx="267222" cy="256784"/>
          </a:xfrm>
          <a:prstGeom prst="rect">
            <a:avLst/>
          </a:prstGeom>
        </p:spPr>
      </p:pic>
      <p:pic>
        <p:nvPicPr>
          <p:cNvPr id="79" name="Graphic 78" descr="Flip calendar with solid fill">
            <a:extLst>
              <a:ext uri="{FF2B5EF4-FFF2-40B4-BE49-F238E27FC236}">
                <a16:creationId xmlns:a16="http://schemas.microsoft.com/office/drawing/2014/main" id="{2EE5923E-4EF9-E760-9C21-B213964C72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7348" y="2543827"/>
            <a:ext cx="277661" cy="277661"/>
          </a:xfrm>
          <a:prstGeom prst="rect">
            <a:avLst/>
          </a:prstGeom>
        </p:spPr>
      </p:pic>
      <p:pic>
        <p:nvPicPr>
          <p:cNvPr id="117" name="Graphic 116" descr="Users with solid fill">
            <a:extLst>
              <a:ext uri="{FF2B5EF4-FFF2-40B4-BE49-F238E27FC236}">
                <a16:creationId xmlns:a16="http://schemas.microsoft.com/office/drawing/2014/main" id="{A5746ADE-16CD-E36D-59A1-10D8CEFA1AC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348" y="1343417"/>
            <a:ext cx="277660" cy="277661"/>
          </a:xfrm>
          <a:prstGeom prst="rect">
            <a:avLst/>
          </a:prstGeom>
        </p:spPr>
      </p:pic>
      <p:sp>
        <p:nvSpPr>
          <p:cNvPr id="119" name="Rectangle: Rounded Corners 118">
            <a:extLst>
              <a:ext uri="{FF2B5EF4-FFF2-40B4-BE49-F238E27FC236}">
                <a16:creationId xmlns:a16="http://schemas.microsoft.com/office/drawing/2014/main" id="{0D166964-99B9-D273-FED7-6C81A351D225}"/>
              </a:ext>
            </a:extLst>
          </p:cNvPr>
          <p:cNvSpPr/>
          <p:nvPr/>
        </p:nvSpPr>
        <p:spPr>
          <a:xfrm>
            <a:off x="9874684" y="93945"/>
            <a:ext cx="2108548" cy="1043835"/>
          </a:xfrm>
          <a:prstGeom prst="roundRect">
            <a:avLst/>
          </a:prstGeom>
          <a:solidFill>
            <a:schemeClr val="accent5">
              <a:lumMod val="20000"/>
              <a:lumOff val="80000"/>
            </a:schemeClr>
          </a:solidFill>
          <a:effectLst>
            <a:outerShdw blurRad="63500" dist="38100" dir="4320000">
              <a:srgbClr val="000000">
                <a:alpha val="51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ext Placeholder 2">
            <a:extLst>
              <a:ext uri="{FF2B5EF4-FFF2-40B4-BE49-F238E27FC236}">
                <a16:creationId xmlns:a16="http://schemas.microsoft.com/office/drawing/2014/main" id="{589054CD-54D6-D669-B972-2B37D70680B7}"/>
              </a:ext>
            </a:extLst>
          </p:cNvPr>
          <p:cNvSpPr txBox="1">
            <a:spLocks/>
          </p:cNvSpPr>
          <p:nvPr/>
        </p:nvSpPr>
        <p:spPr>
          <a:xfrm>
            <a:off x="9877108" y="127388"/>
            <a:ext cx="1056142" cy="316206"/>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t>Product manager</a:t>
            </a:r>
            <a:endParaRPr lang="en-US" sz="1000"/>
          </a:p>
        </p:txBody>
      </p:sp>
      <p:sp>
        <p:nvSpPr>
          <p:cNvPr id="122" name="Text Placeholder 3">
            <a:extLst>
              <a:ext uri="{FF2B5EF4-FFF2-40B4-BE49-F238E27FC236}">
                <a16:creationId xmlns:a16="http://schemas.microsoft.com/office/drawing/2014/main" id="{C76DB4F8-359C-8C3E-55A9-EFE79ECD3E55}"/>
              </a:ext>
            </a:extLst>
          </p:cNvPr>
          <p:cNvSpPr txBox="1">
            <a:spLocks/>
          </p:cNvSpPr>
          <p:nvPr/>
        </p:nvSpPr>
        <p:spPr>
          <a:xfrm>
            <a:off x="9892010" y="442194"/>
            <a:ext cx="1151670" cy="308964"/>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a:t>Product owner</a:t>
            </a:r>
          </a:p>
        </p:txBody>
      </p:sp>
      <p:sp>
        <p:nvSpPr>
          <p:cNvPr id="123" name="Text Placeholder 4">
            <a:extLst>
              <a:ext uri="{FF2B5EF4-FFF2-40B4-BE49-F238E27FC236}">
                <a16:creationId xmlns:a16="http://schemas.microsoft.com/office/drawing/2014/main" id="{E95B6A1E-9E0D-BEE8-AB7E-99FC4F236D4C}"/>
              </a:ext>
            </a:extLst>
          </p:cNvPr>
          <p:cNvSpPr txBox="1">
            <a:spLocks/>
          </p:cNvSpPr>
          <p:nvPr/>
        </p:nvSpPr>
        <p:spPr>
          <a:xfrm>
            <a:off x="9892222" y="612789"/>
            <a:ext cx="1049493" cy="31449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a:t>Scrum master</a:t>
            </a:r>
          </a:p>
        </p:txBody>
      </p:sp>
      <p:sp>
        <p:nvSpPr>
          <p:cNvPr id="124" name="Text Placeholder 5">
            <a:extLst>
              <a:ext uri="{FF2B5EF4-FFF2-40B4-BE49-F238E27FC236}">
                <a16:creationId xmlns:a16="http://schemas.microsoft.com/office/drawing/2014/main" id="{CABF7D2D-DA7E-D502-A8BD-6823ADF1CB3D}"/>
              </a:ext>
            </a:extLst>
          </p:cNvPr>
          <p:cNvSpPr txBox="1">
            <a:spLocks/>
          </p:cNvSpPr>
          <p:nvPr/>
        </p:nvSpPr>
        <p:spPr>
          <a:xfrm>
            <a:off x="9876981" y="779308"/>
            <a:ext cx="1147476" cy="313933"/>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t>Team MEMBERS</a:t>
            </a:r>
          </a:p>
        </p:txBody>
      </p:sp>
      <p:sp>
        <p:nvSpPr>
          <p:cNvPr id="125" name="Text Placeholder 6">
            <a:extLst>
              <a:ext uri="{FF2B5EF4-FFF2-40B4-BE49-F238E27FC236}">
                <a16:creationId xmlns:a16="http://schemas.microsoft.com/office/drawing/2014/main" id="{0779D034-A399-F6EF-0CE0-DFE6989CEA3C}"/>
              </a:ext>
            </a:extLst>
          </p:cNvPr>
          <p:cNvSpPr txBox="1">
            <a:spLocks/>
          </p:cNvSpPr>
          <p:nvPr/>
        </p:nvSpPr>
        <p:spPr>
          <a:xfrm>
            <a:off x="10422657" y="156629"/>
            <a:ext cx="2143707" cy="308132"/>
          </a:xfrm>
          <a:prstGeom prst="rect">
            <a:avLst/>
          </a:prstGeom>
        </p:spPr>
        <p:txBody>
          <a:bodyPr lIns="91440" tIns="45720" rIns="91440" bIns="4572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Jonathan Little</a:t>
            </a:r>
          </a:p>
        </p:txBody>
      </p:sp>
      <p:sp>
        <p:nvSpPr>
          <p:cNvPr id="126" name="Text Placeholder 7">
            <a:extLst>
              <a:ext uri="{FF2B5EF4-FFF2-40B4-BE49-F238E27FC236}">
                <a16:creationId xmlns:a16="http://schemas.microsoft.com/office/drawing/2014/main" id="{1670E172-8A83-354F-8554-E04C891332B0}"/>
              </a:ext>
            </a:extLst>
          </p:cNvPr>
          <p:cNvSpPr txBox="1">
            <a:spLocks/>
          </p:cNvSpPr>
          <p:nvPr/>
        </p:nvSpPr>
        <p:spPr>
          <a:xfrm>
            <a:off x="10824965" y="439848"/>
            <a:ext cx="2154146" cy="308132"/>
          </a:xfrm>
          <a:prstGeom prst="rect">
            <a:avLst/>
          </a:prstGeom>
        </p:spPr>
        <p:txBody>
          <a:bodyPr lIns="91440" tIns="45720" rIns="91440" bIns="4572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Joshua Hanscom</a:t>
            </a:r>
          </a:p>
        </p:txBody>
      </p:sp>
      <p:sp>
        <p:nvSpPr>
          <p:cNvPr id="127" name="Text Placeholder 8">
            <a:extLst>
              <a:ext uri="{FF2B5EF4-FFF2-40B4-BE49-F238E27FC236}">
                <a16:creationId xmlns:a16="http://schemas.microsoft.com/office/drawing/2014/main" id="{491EE179-EA83-E8B6-16B7-89F7E7356A68}"/>
              </a:ext>
            </a:extLst>
          </p:cNvPr>
          <p:cNvSpPr txBox="1">
            <a:spLocks/>
          </p:cNvSpPr>
          <p:nvPr/>
        </p:nvSpPr>
        <p:spPr>
          <a:xfrm>
            <a:off x="10826594" y="623748"/>
            <a:ext cx="2143707" cy="318571"/>
          </a:xfrm>
          <a:prstGeom prst="rect">
            <a:avLst/>
          </a:prstGeom>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Abigail Diaz</a:t>
            </a:r>
            <a:endParaRPr lang="en-US" sz="1100">
              <a:ea typeface="+mn-lt"/>
              <a:cs typeface="+mn-lt"/>
            </a:endParaRPr>
          </a:p>
          <a:p>
            <a:endParaRPr lang="en-US" sz="1100">
              <a:ea typeface="+mn-lt"/>
              <a:cs typeface="+mn-lt"/>
            </a:endParaRPr>
          </a:p>
        </p:txBody>
      </p:sp>
      <p:sp>
        <p:nvSpPr>
          <p:cNvPr id="128" name="Text Placeholder 9">
            <a:extLst>
              <a:ext uri="{FF2B5EF4-FFF2-40B4-BE49-F238E27FC236}">
                <a16:creationId xmlns:a16="http://schemas.microsoft.com/office/drawing/2014/main" id="{2E1EAEBF-8F29-C6D2-FB59-877931AD87D7}"/>
              </a:ext>
            </a:extLst>
          </p:cNvPr>
          <p:cNvSpPr txBox="1">
            <a:spLocks/>
          </p:cNvSpPr>
          <p:nvPr/>
        </p:nvSpPr>
        <p:spPr>
          <a:xfrm>
            <a:off x="10829268" y="808487"/>
            <a:ext cx="2155802" cy="570078"/>
          </a:xfrm>
          <a:prstGeom prst="rect">
            <a:avLst/>
          </a:prstGeom>
        </p:spPr>
        <p:txBody>
          <a:bodyPr lIns="91440" tIns="45720" rIns="91440" bIns="4572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ea typeface="+mn-lt"/>
                <a:cs typeface="+mn-lt"/>
              </a:rPr>
              <a:t>Everyone</a:t>
            </a:r>
            <a:endParaRPr lang="en-US" sz="1200"/>
          </a:p>
        </p:txBody>
      </p:sp>
      <p:sp>
        <p:nvSpPr>
          <p:cNvPr id="129" name="TextBox 128">
            <a:extLst>
              <a:ext uri="{FF2B5EF4-FFF2-40B4-BE49-F238E27FC236}">
                <a16:creationId xmlns:a16="http://schemas.microsoft.com/office/drawing/2014/main" id="{D843B1B4-626C-338E-462E-F3D1CC712695}"/>
              </a:ext>
            </a:extLst>
          </p:cNvPr>
          <p:cNvSpPr txBox="1"/>
          <p:nvPr/>
        </p:nvSpPr>
        <p:spPr>
          <a:xfrm>
            <a:off x="3847579" y="277661"/>
            <a:ext cx="442377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cap="all" dirty="0">
                <a:solidFill>
                  <a:srgbClr val="C06C30"/>
                </a:solidFill>
              </a:rPr>
              <a:t>Agile Process Model</a:t>
            </a:r>
          </a:p>
        </p:txBody>
      </p:sp>
      <p:sp>
        <p:nvSpPr>
          <p:cNvPr id="130" name="Text Placeholder 2">
            <a:extLst>
              <a:ext uri="{FF2B5EF4-FFF2-40B4-BE49-F238E27FC236}">
                <a16:creationId xmlns:a16="http://schemas.microsoft.com/office/drawing/2014/main" id="{CE386403-C21D-FD7E-DB34-9D3F2E91037E}"/>
              </a:ext>
            </a:extLst>
          </p:cNvPr>
          <p:cNvSpPr txBox="1">
            <a:spLocks/>
          </p:cNvSpPr>
          <p:nvPr/>
        </p:nvSpPr>
        <p:spPr>
          <a:xfrm>
            <a:off x="4787984" y="1057367"/>
            <a:ext cx="1482199" cy="117319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Product Owner (Joshua Hanscom), Scrum master (Abigail Diaz), Dev Team (Entire Group)</a:t>
            </a:r>
          </a:p>
        </p:txBody>
      </p:sp>
      <p:sp>
        <p:nvSpPr>
          <p:cNvPr id="131" name="Text Placeholder 2">
            <a:extLst>
              <a:ext uri="{FF2B5EF4-FFF2-40B4-BE49-F238E27FC236}">
                <a16:creationId xmlns:a16="http://schemas.microsoft.com/office/drawing/2014/main" id="{B7DE8C37-056F-EF3F-1CCF-76ADADCBDE13}"/>
              </a:ext>
            </a:extLst>
          </p:cNvPr>
          <p:cNvSpPr txBox="1">
            <a:spLocks/>
          </p:cNvSpPr>
          <p:nvPr/>
        </p:nvSpPr>
        <p:spPr>
          <a:xfrm>
            <a:off x="4825424" y="2489926"/>
            <a:ext cx="1150121" cy="329916"/>
          </a:xfrm>
          <a:prstGeom prst="roundRect">
            <a:avLst/>
          </a:prstGeom>
          <a:solidFill>
            <a:schemeClr val="accent5">
              <a:lumMod val="40000"/>
              <a:lumOff val="60000"/>
            </a:schemeClr>
          </a:solidFill>
        </p:spPr>
        <p:txBody>
          <a:bodyPr vert="horz" lIns="91440" tIns="45720" rIns="91440" bIns="45720" rtlCol="0" anchor="ctr">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Wednesday 10:00AM</a:t>
            </a:r>
          </a:p>
        </p:txBody>
      </p:sp>
      <p:sp>
        <p:nvSpPr>
          <p:cNvPr id="132" name="Text Placeholder 2">
            <a:extLst>
              <a:ext uri="{FF2B5EF4-FFF2-40B4-BE49-F238E27FC236}">
                <a16:creationId xmlns:a16="http://schemas.microsoft.com/office/drawing/2014/main" id="{AFAE3BD3-88B3-F48C-3A71-6B1FF4A7566F}"/>
              </a:ext>
            </a:extLst>
          </p:cNvPr>
          <p:cNvSpPr txBox="1">
            <a:spLocks/>
          </p:cNvSpPr>
          <p:nvPr/>
        </p:nvSpPr>
        <p:spPr>
          <a:xfrm>
            <a:off x="4825422" y="3099526"/>
            <a:ext cx="1150121" cy="32991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1 Hour</a:t>
            </a:r>
          </a:p>
        </p:txBody>
      </p:sp>
      <p:sp>
        <p:nvSpPr>
          <p:cNvPr id="134" name="Text Placeholder 2">
            <a:extLst>
              <a:ext uri="{FF2B5EF4-FFF2-40B4-BE49-F238E27FC236}">
                <a16:creationId xmlns:a16="http://schemas.microsoft.com/office/drawing/2014/main" id="{5B2F92FA-012B-9CBF-26B5-227066EF2D9A}"/>
              </a:ext>
            </a:extLst>
          </p:cNvPr>
          <p:cNvSpPr txBox="1">
            <a:spLocks/>
          </p:cNvSpPr>
          <p:nvPr/>
        </p:nvSpPr>
        <p:spPr>
          <a:xfrm>
            <a:off x="4700161" y="3517754"/>
            <a:ext cx="1784911" cy="1684674"/>
          </a:xfrm>
          <a:prstGeom prst="roundRect">
            <a:avLst/>
          </a:prstGeom>
          <a:solidFill>
            <a:schemeClr val="accent5">
              <a:lumMod val="40000"/>
              <a:lumOff val="60000"/>
            </a:schemeClr>
          </a:solidFill>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a:solidFill>
                  <a:srgbClr val="424242"/>
                </a:solidFill>
                <a:latin typeface="Nunito"/>
              </a:rPr>
              <a:t>Product owner: Reflecting on the overall value, acceptance criteria </a:t>
            </a:r>
            <a:endParaRPr lang="en-US" sz="900" b="1">
              <a:solidFill>
                <a:srgbClr val="000000"/>
              </a:solidFill>
              <a:latin typeface="Tenorite"/>
            </a:endParaRPr>
          </a:p>
          <a:p>
            <a:endParaRPr lang="en-US" sz="900" b="1">
              <a:solidFill>
                <a:srgbClr val="424242"/>
              </a:solidFill>
              <a:latin typeface="Nunito"/>
            </a:endParaRPr>
          </a:p>
          <a:p>
            <a:r>
              <a:rPr lang="en-US" sz="900" b="1">
                <a:solidFill>
                  <a:srgbClr val="424242"/>
                </a:solidFill>
                <a:latin typeface="Nunito"/>
              </a:rPr>
              <a:t>Dev team &amp; product owner: work closely with product owner to refine  the approved request, and feasibility.</a:t>
            </a:r>
          </a:p>
          <a:p>
            <a:r>
              <a:rPr lang="en-US" sz="900" b="1">
                <a:solidFill>
                  <a:srgbClr val="424242"/>
                </a:solidFill>
                <a:latin typeface="Nunito"/>
              </a:rPr>
              <a:t>Scrum master: Ensures understanding and flexibility </a:t>
            </a:r>
          </a:p>
        </p:txBody>
      </p:sp>
      <p:sp>
        <p:nvSpPr>
          <p:cNvPr id="136" name="Arrow: Bent 135">
            <a:extLst>
              <a:ext uri="{FF2B5EF4-FFF2-40B4-BE49-F238E27FC236}">
                <a16:creationId xmlns:a16="http://schemas.microsoft.com/office/drawing/2014/main" id="{C3CDDB4E-A917-EF4F-147F-0622BACFDB3C}"/>
              </a:ext>
            </a:extLst>
          </p:cNvPr>
          <p:cNvSpPr/>
          <p:nvPr/>
        </p:nvSpPr>
        <p:spPr>
          <a:xfrm>
            <a:off x="6554869" y="1188998"/>
            <a:ext cx="417533" cy="84717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Arrow: Bent-Up 136">
            <a:extLst>
              <a:ext uri="{FF2B5EF4-FFF2-40B4-BE49-F238E27FC236}">
                <a16:creationId xmlns:a16="http://schemas.microsoft.com/office/drawing/2014/main" id="{AFB0D552-9294-70AC-42B1-3A544E6B5EBF}"/>
              </a:ext>
            </a:extLst>
          </p:cNvPr>
          <p:cNvSpPr/>
          <p:nvPr/>
        </p:nvSpPr>
        <p:spPr>
          <a:xfrm>
            <a:off x="6272615" y="1664568"/>
            <a:ext cx="415585" cy="418411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8" name="Text Placeholder 2">
            <a:extLst>
              <a:ext uri="{FF2B5EF4-FFF2-40B4-BE49-F238E27FC236}">
                <a16:creationId xmlns:a16="http://schemas.microsoft.com/office/drawing/2014/main" id="{4438E6B2-9003-BFE3-602D-AA3DAE68BA98}"/>
              </a:ext>
            </a:extLst>
          </p:cNvPr>
          <p:cNvSpPr txBox="1">
            <a:spLocks/>
          </p:cNvSpPr>
          <p:nvPr/>
        </p:nvSpPr>
        <p:spPr>
          <a:xfrm>
            <a:off x="4846303" y="5308976"/>
            <a:ext cx="1482198" cy="985306"/>
          </a:xfrm>
          <a:prstGeom prst="roundRect">
            <a:avLst/>
          </a:prstGeom>
          <a:solidFill>
            <a:schemeClr val="accent5">
              <a:lumMod val="40000"/>
              <a:lumOff val="60000"/>
            </a:schemeClr>
          </a:solidFill>
        </p:spPr>
        <p:txBody>
          <a:bodyPr vert="horz" lIns="91440" tIns="45720" rIns="91440" bIns="45720" rtlCol="0" anchor="ctr">
            <a:normAutofit fontScale="925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i="0" u="none" strike="noStrike" baseline="0">
                <a:solidFill>
                  <a:srgbClr val="404040"/>
                </a:solidFill>
                <a:latin typeface="Tenorite"/>
                <a:ea typeface="Tenorite"/>
                <a:cs typeface="Tenorite"/>
              </a:rPr>
              <a:t>Team Backlog filled</a:t>
            </a:r>
            <a:r>
              <a:rPr lang="en-US" sz="1100" b="1">
                <a:solidFill>
                  <a:srgbClr val="404040"/>
                </a:solidFill>
                <a:latin typeface="Tenorite"/>
                <a:ea typeface="Tenorite"/>
                <a:cs typeface="Tenorite"/>
              </a:rPr>
              <a:t>,</a:t>
            </a:r>
            <a:r>
              <a:rPr lang="en-US" sz="1100" b="1" i="0" u="none" strike="noStrike" baseline="0">
                <a:solidFill>
                  <a:srgbClr val="404040"/>
                </a:solidFill>
                <a:latin typeface="Tenorite"/>
                <a:ea typeface="Tenorite"/>
                <a:cs typeface="Tenorite"/>
              </a:rPr>
              <a:t> </a:t>
            </a:r>
            <a:r>
              <a:rPr lang="en-US" sz="1100" b="1">
                <a:solidFill>
                  <a:srgbClr val="404040"/>
                </a:solidFill>
                <a:latin typeface="Tenorite"/>
                <a:ea typeface="Tenorite"/>
                <a:cs typeface="Tenorite"/>
              </a:rPr>
              <a:t>managed </a:t>
            </a:r>
            <a:r>
              <a:rPr lang="en-US" sz="1100" b="1" i="0" u="none" strike="noStrike" baseline="0">
                <a:solidFill>
                  <a:srgbClr val="404040"/>
                </a:solidFill>
                <a:latin typeface="Tenorite"/>
                <a:ea typeface="Tenorite"/>
                <a:cs typeface="Tenorite"/>
              </a:rPr>
              <a:t>and prioritized</a:t>
            </a:r>
            <a:r>
              <a:rPr lang="en-US" sz="1100" b="1">
                <a:solidFill>
                  <a:srgbClr val="404040"/>
                </a:solidFill>
                <a:latin typeface="Tenorite"/>
                <a:ea typeface="Tenorite"/>
                <a:cs typeface="Tenorite"/>
              </a:rPr>
              <a:t>, User stories, tasks and acceptance criteria are defined</a:t>
            </a:r>
            <a:endParaRPr lang="en-US" sz="1100" b="1"/>
          </a:p>
        </p:txBody>
      </p:sp>
      <p:sp>
        <p:nvSpPr>
          <p:cNvPr id="139" name="Text Placeholder 2">
            <a:extLst>
              <a:ext uri="{FF2B5EF4-FFF2-40B4-BE49-F238E27FC236}">
                <a16:creationId xmlns:a16="http://schemas.microsoft.com/office/drawing/2014/main" id="{68854FE6-CCA8-DB29-41B3-E8891BA635A6}"/>
              </a:ext>
            </a:extLst>
          </p:cNvPr>
          <p:cNvSpPr txBox="1">
            <a:spLocks/>
          </p:cNvSpPr>
          <p:nvPr/>
        </p:nvSpPr>
        <p:spPr>
          <a:xfrm>
            <a:off x="6969599" y="1057366"/>
            <a:ext cx="1221241" cy="117319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Dev Team (Entire Group), Scrum Master (Abigail Diaz)</a:t>
            </a:r>
          </a:p>
        </p:txBody>
      </p:sp>
      <p:sp>
        <p:nvSpPr>
          <p:cNvPr id="140" name="Text Placeholder 2">
            <a:extLst>
              <a:ext uri="{FF2B5EF4-FFF2-40B4-BE49-F238E27FC236}">
                <a16:creationId xmlns:a16="http://schemas.microsoft.com/office/drawing/2014/main" id="{90B45587-7B8A-5EBC-FF05-EC759B8CDF5D}"/>
              </a:ext>
            </a:extLst>
          </p:cNvPr>
          <p:cNvSpPr txBox="1">
            <a:spLocks/>
          </p:cNvSpPr>
          <p:nvPr/>
        </p:nvSpPr>
        <p:spPr>
          <a:xfrm>
            <a:off x="7038355" y="2489926"/>
            <a:ext cx="1150121" cy="329916"/>
          </a:xfrm>
          <a:prstGeom prst="roundRect">
            <a:avLst/>
          </a:prstGeom>
          <a:solidFill>
            <a:schemeClr val="accent5">
              <a:lumMod val="40000"/>
              <a:lumOff val="60000"/>
            </a:schemeClr>
          </a:solidFill>
        </p:spPr>
        <p:txBody>
          <a:bodyPr vert="horz" lIns="91440" tIns="45720" rIns="91440" bIns="4572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Friday 10:00AM</a:t>
            </a:r>
          </a:p>
        </p:txBody>
      </p:sp>
      <p:sp>
        <p:nvSpPr>
          <p:cNvPr id="141" name="Text Placeholder 2">
            <a:extLst>
              <a:ext uri="{FF2B5EF4-FFF2-40B4-BE49-F238E27FC236}">
                <a16:creationId xmlns:a16="http://schemas.microsoft.com/office/drawing/2014/main" id="{97187384-8D58-9A52-C57A-5F09A0153E64}"/>
              </a:ext>
            </a:extLst>
          </p:cNvPr>
          <p:cNvSpPr txBox="1">
            <a:spLocks/>
          </p:cNvSpPr>
          <p:nvPr/>
        </p:nvSpPr>
        <p:spPr>
          <a:xfrm>
            <a:off x="7080106" y="3099526"/>
            <a:ext cx="1150121" cy="32991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1 Hour</a:t>
            </a:r>
          </a:p>
        </p:txBody>
      </p:sp>
      <p:sp>
        <p:nvSpPr>
          <p:cNvPr id="439" name="Text Placeholder 2">
            <a:extLst>
              <a:ext uri="{FF2B5EF4-FFF2-40B4-BE49-F238E27FC236}">
                <a16:creationId xmlns:a16="http://schemas.microsoft.com/office/drawing/2014/main" id="{DA4CF83C-B880-2CC5-B5DB-D3E20FA65D4A}"/>
              </a:ext>
            </a:extLst>
          </p:cNvPr>
          <p:cNvSpPr txBox="1">
            <a:spLocks/>
          </p:cNvSpPr>
          <p:nvPr/>
        </p:nvSpPr>
        <p:spPr>
          <a:xfrm>
            <a:off x="10317067" y="4781967"/>
            <a:ext cx="1746233" cy="1455698"/>
          </a:xfrm>
          <a:prstGeom prst="roundRect">
            <a:avLst/>
          </a:prstGeom>
          <a:solidFill>
            <a:schemeClr val="accent5">
              <a:lumMod val="40000"/>
              <a:lumOff val="60000"/>
            </a:schemeClr>
          </a:solidFill>
        </p:spPr>
        <p:txBody>
          <a:bodyPr vert="horz" lIns="91440" tIns="45720" rIns="91440" bIns="45720" rtlCol="0" anchor="ctr">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a:t>Interval occurs:  Backlog is inspected and refined when needed, consider how progress was made and how that progress aligned with the product goal</a:t>
            </a:r>
            <a:endParaRPr lang="en-US" sz="1000" b="0">
              <a:solidFill>
                <a:srgbClr val="000000"/>
              </a:solidFill>
            </a:endParaRPr>
          </a:p>
          <a:p>
            <a:r>
              <a:rPr lang="en-US" sz="1000"/>
              <a:t>Consider individual progress, interactions, processes, and necessary improvements, what went well and what did not</a:t>
            </a:r>
          </a:p>
        </p:txBody>
      </p:sp>
      <p:sp>
        <p:nvSpPr>
          <p:cNvPr id="446" name="Text Placeholder 2">
            <a:extLst>
              <a:ext uri="{FF2B5EF4-FFF2-40B4-BE49-F238E27FC236}">
                <a16:creationId xmlns:a16="http://schemas.microsoft.com/office/drawing/2014/main" id="{A48CA33D-23A2-9E57-B56F-B592065E2047}"/>
              </a:ext>
            </a:extLst>
          </p:cNvPr>
          <p:cNvSpPr txBox="1">
            <a:spLocks/>
          </p:cNvSpPr>
          <p:nvPr/>
        </p:nvSpPr>
        <p:spPr>
          <a:xfrm>
            <a:off x="8698053" y="2312474"/>
            <a:ext cx="1338012" cy="663943"/>
          </a:xfrm>
          <a:prstGeom prst="roundRect">
            <a:avLst/>
          </a:prstGeom>
          <a:solidFill>
            <a:schemeClr val="accent5">
              <a:lumMod val="40000"/>
              <a:lumOff val="60000"/>
            </a:schemeClr>
          </a:solidFill>
        </p:spPr>
        <p:txBody>
          <a:bodyPr vert="horz" lIns="91440" tIns="45720" rIns="91440" bIns="45720" rtlCol="0" anchor="ctr">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Dev Team free time, when the sprint with the request is reached</a:t>
            </a:r>
          </a:p>
        </p:txBody>
      </p:sp>
      <p:sp>
        <p:nvSpPr>
          <p:cNvPr id="447" name="Text Placeholder 2">
            <a:extLst>
              <a:ext uri="{FF2B5EF4-FFF2-40B4-BE49-F238E27FC236}">
                <a16:creationId xmlns:a16="http://schemas.microsoft.com/office/drawing/2014/main" id="{F68D7192-1508-63C9-F4CA-A3DC8ED925FD}"/>
              </a:ext>
            </a:extLst>
          </p:cNvPr>
          <p:cNvSpPr txBox="1">
            <a:spLocks/>
          </p:cNvSpPr>
          <p:nvPr/>
        </p:nvSpPr>
        <p:spPr>
          <a:xfrm>
            <a:off x="8739804" y="3099526"/>
            <a:ext cx="1150121" cy="329916"/>
          </a:xfrm>
          <a:prstGeom prst="roundRect">
            <a:avLst/>
          </a:prstGeom>
          <a:solidFill>
            <a:schemeClr val="accent5">
              <a:lumMod val="40000"/>
              <a:lumOff val="60000"/>
            </a:schemeClr>
          </a:solidFill>
        </p:spPr>
        <p:txBody>
          <a:bodyPr vert="horz" lIns="91440" tIns="45720" rIns="91440" bIns="4572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1-5 hours/week</a:t>
            </a:r>
          </a:p>
        </p:txBody>
      </p:sp>
      <p:sp>
        <p:nvSpPr>
          <p:cNvPr id="449" name="Text Placeholder 2">
            <a:extLst>
              <a:ext uri="{FF2B5EF4-FFF2-40B4-BE49-F238E27FC236}">
                <a16:creationId xmlns:a16="http://schemas.microsoft.com/office/drawing/2014/main" id="{D3D46FA9-B8A4-FB5F-C273-213F2B883B74}"/>
              </a:ext>
            </a:extLst>
          </p:cNvPr>
          <p:cNvSpPr txBox="1">
            <a:spLocks/>
          </p:cNvSpPr>
          <p:nvPr/>
        </p:nvSpPr>
        <p:spPr>
          <a:xfrm>
            <a:off x="8702368" y="3604324"/>
            <a:ext cx="1221241" cy="117319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300">
                <a:solidFill>
                  <a:srgbClr val="424242"/>
                </a:solidFill>
                <a:latin typeface="Nunito"/>
              </a:rPr>
              <a:t>Dev production of request</a:t>
            </a:r>
          </a:p>
        </p:txBody>
      </p:sp>
      <p:sp>
        <p:nvSpPr>
          <p:cNvPr id="450" name="Text Placeholder 2">
            <a:extLst>
              <a:ext uri="{FF2B5EF4-FFF2-40B4-BE49-F238E27FC236}">
                <a16:creationId xmlns:a16="http://schemas.microsoft.com/office/drawing/2014/main" id="{A8AB1C61-0259-09F3-EF9C-45D1085A496F}"/>
              </a:ext>
            </a:extLst>
          </p:cNvPr>
          <p:cNvSpPr txBox="1">
            <a:spLocks/>
          </p:cNvSpPr>
          <p:nvPr/>
        </p:nvSpPr>
        <p:spPr>
          <a:xfrm>
            <a:off x="8702364" y="1078244"/>
            <a:ext cx="1189926" cy="1037498"/>
          </a:xfrm>
          <a:prstGeom prst="roundRect">
            <a:avLst/>
          </a:prstGeom>
          <a:solidFill>
            <a:schemeClr val="accent5">
              <a:lumMod val="40000"/>
              <a:lumOff val="60000"/>
            </a:schemeClr>
          </a:solidFill>
        </p:spPr>
        <p:txBody>
          <a:bodyPr vert="horz" lIns="91440" tIns="45720" rIns="91440" bIns="45720" rtlCol="0" anchor="ctr">
            <a:normAutofit fontScale="8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a:t>Dev Team (Entire Group), Scrum Master (Abigail Diaz),</a:t>
            </a:r>
          </a:p>
          <a:p>
            <a:r>
              <a:rPr lang="en-US" sz="1200" b="1"/>
              <a:t>Product Manager(Jonathan Little)</a:t>
            </a:r>
            <a:endParaRPr lang="en-US"/>
          </a:p>
        </p:txBody>
      </p:sp>
      <p:sp>
        <p:nvSpPr>
          <p:cNvPr id="451" name="Text Placeholder 2">
            <a:extLst>
              <a:ext uri="{FF2B5EF4-FFF2-40B4-BE49-F238E27FC236}">
                <a16:creationId xmlns:a16="http://schemas.microsoft.com/office/drawing/2014/main" id="{5EFF2364-4A44-F104-F886-525C7CC96180}"/>
              </a:ext>
            </a:extLst>
          </p:cNvPr>
          <p:cNvSpPr txBox="1">
            <a:spLocks/>
          </p:cNvSpPr>
          <p:nvPr/>
        </p:nvSpPr>
        <p:spPr>
          <a:xfrm>
            <a:off x="10368188" y="2542116"/>
            <a:ext cx="1087493" cy="340356"/>
          </a:xfrm>
          <a:prstGeom prst="roundRect">
            <a:avLst/>
          </a:prstGeom>
          <a:solidFill>
            <a:schemeClr val="accent5">
              <a:lumMod val="40000"/>
              <a:lumOff val="60000"/>
            </a:schemeClr>
          </a:solidFill>
        </p:spPr>
        <p:txBody>
          <a:bodyPr vert="horz" lIns="91440" tIns="45720" rIns="91440" bIns="45720" rtlCol="0" anchor="ctr">
            <a:normAutofit fontScale="85000" lnSpcReduction="100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Saturday 6:00PM</a:t>
            </a:r>
          </a:p>
        </p:txBody>
      </p:sp>
      <p:sp>
        <p:nvSpPr>
          <p:cNvPr id="452" name="Text Placeholder 2">
            <a:extLst>
              <a:ext uri="{FF2B5EF4-FFF2-40B4-BE49-F238E27FC236}">
                <a16:creationId xmlns:a16="http://schemas.microsoft.com/office/drawing/2014/main" id="{26B46088-967C-6D5D-3123-5CFC4F4462FC}"/>
              </a:ext>
            </a:extLst>
          </p:cNvPr>
          <p:cNvSpPr txBox="1">
            <a:spLocks/>
          </p:cNvSpPr>
          <p:nvPr/>
        </p:nvSpPr>
        <p:spPr>
          <a:xfrm>
            <a:off x="8698054" y="4974949"/>
            <a:ext cx="1419568" cy="1173196"/>
          </a:xfrm>
          <a:prstGeom prst="roundRect">
            <a:avLst/>
          </a:prstGeom>
          <a:solidFill>
            <a:schemeClr val="accent5">
              <a:lumMod val="40000"/>
              <a:lumOff val="60000"/>
            </a:schemeClr>
          </a:solidFill>
        </p:spPr>
        <p:txBody>
          <a:bodyPr vert="horz" lIns="91440" tIns="45720" rIns="91440" bIns="45720"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a:solidFill>
                  <a:srgbClr val="404040"/>
                </a:solidFill>
                <a:latin typeface="Tenorite"/>
                <a:ea typeface="Tenorite"/>
                <a:cs typeface="Tenorite"/>
              </a:rPr>
              <a:t>Scrum Master and dev team look over the highest priority items in the </a:t>
            </a:r>
            <a:r>
              <a:rPr lang="en-US" sz="1100" b="1" i="0" u="none" strike="noStrike" baseline="0">
                <a:solidFill>
                  <a:srgbClr val="404040"/>
                </a:solidFill>
                <a:latin typeface="Tenorite"/>
                <a:ea typeface="Tenorite"/>
                <a:cs typeface="Tenorite"/>
              </a:rPr>
              <a:t>Team Backlog </a:t>
            </a:r>
            <a:r>
              <a:rPr lang="en-US" sz="1100" b="1">
                <a:solidFill>
                  <a:srgbClr val="404040"/>
                </a:solidFill>
                <a:latin typeface="Tenorite"/>
                <a:ea typeface="Tenorite"/>
                <a:cs typeface="Tenorite"/>
              </a:rPr>
              <a:t>to be added in the upcoming sprint.</a:t>
            </a:r>
            <a:endParaRPr lang="en-US"/>
          </a:p>
          <a:p>
            <a:endParaRPr lang="en-US" sz="1100" b="1">
              <a:solidFill>
                <a:srgbClr val="404040"/>
              </a:solidFill>
            </a:endParaRPr>
          </a:p>
        </p:txBody>
      </p:sp>
      <p:sp>
        <p:nvSpPr>
          <p:cNvPr id="453" name="Rectangle 452">
            <a:extLst>
              <a:ext uri="{FF2B5EF4-FFF2-40B4-BE49-F238E27FC236}">
                <a16:creationId xmlns:a16="http://schemas.microsoft.com/office/drawing/2014/main" id="{ADDD4CD3-F58E-0803-D9D7-F4A61912FE33}"/>
              </a:ext>
            </a:extLst>
          </p:cNvPr>
          <p:cNvSpPr/>
          <p:nvPr/>
        </p:nvSpPr>
        <p:spPr>
          <a:xfrm>
            <a:off x="8743303" y="6322301"/>
            <a:ext cx="1635900" cy="272232"/>
          </a:xfrm>
          <a:prstGeom prst="rect">
            <a:avLst/>
          </a:prstGeom>
          <a:solidFill>
            <a:srgbClr val="A769B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Production</a:t>
            </a:r>
          </a:p>
        </p:txBody>
      </p:sp>
      <p:sp>
        <p:nvSpPr>
          <p:cNvPr id="454" name="Text Placeholder 2">
            <a:extLst>
              <a:ext uri="{FF2B5EF4-FFF2-40B4-BE49-F238E27FC236}">
                <a16:creationId xmlns:a16="http://schemas.microsoft.com/office/drawing/2014/main" id="{E4A85169-23F0-039A-B701-5CFD53B1E03D}"/>
              </a:ext>
            </a:extLst>
          </p:cNvPr>
          <p:cNvSpPr txBox="1">
            <a:spLocks/>
          </p:cNvSpPr>
          <p:nvPr/>
        </p:nvSpPr>
        <p:spPr>
          <a:xfrm>
            <a:off x="10320308" y="1182905"/>
            <a:ext cx="1333001" cy="1183356"/>
          </a:xfrm>
          <a:prstGeom prst="roundRect">
            <a:avLst/>
          </a:prstGeom>
          <a:solidFill>
            <a:schemeClr val="accent5">
              <a:lumMod val="40000"/>
              <a:lumOff val="60000"/>
            </a:schemeClr>
          </a:solidFill>
        </p:spPr>
        <p:txBody>
          <a:bodyPr vert="horz" lIns="91440" tIns="45720" rIns="91440" bIns="45720"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a:t>Dev Team (Entire Group), Scrum Master (Abigail Diaz),</a:t>
            </a:r>
          </a:p>
          <a:p>
            <a:r>
              <a:rPr lang="en-US" sz="1100" b="1"/>
              <a:t>Product Manager(Jonathan Little)</a:t>
            </a:r>
          </a:p>
        </p:txBody>
      </p:sp>
      <p:sp>
        <p:nvSpPr>
          <p:cNvPr id="456" name="Text Placeholder 2">
            <a:extLst>
              <a:ext uri="{FF2B5EF4-FFF2-40B4-BE49-F238E27FC236}">
                <a16:creationId xmlns:a16="http://schemas.microsoft.com/office/drawing/2014/main" id="{0E0038AB-0F34-A8A9-F337-EA74558901D1}"/>
              </a:ext>
            </a:extLst>
          </p:cNvPr>
          <p:cNvSpPr txBox="1">
            <a:spLocks/>
          </p:cNvSpPr>
          <p:nvPr/>
        </p:nvSpPr>
        <p:spPr>
          <a:xfrm>
            <a:off x="10372504" y="3593885"/>
            <a:ext cx="1221241" cy="117319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solidFill>
                  <a:srgbClr val="404040"/>
                </a:solidFill>
                <a:latin typeface="Tenorite"/>
              </a:rPr>
              <a:t>Interval Retrospective &amp; Interval Review</a:t>
            </a:r>
            <a:endParaRPr lang="en-US" sz="1200" b="0">
              <a:solidFill>
                <a:srgbClr val="000000"/>
              </a:solidFill>
            </a:endParaRPr>
          </a:p>
        </p:txBody>
      </p:sp>
      <p:sp>
        <p:nvSpPr>
          <p:cNvPr id="457" name="Text Placeholder 2">
            <a:extLst>
              <a:ext uri="{FF2B5EF4-FFF2-40B4-BE49-F238E27FC236}">
                <a16:creationId xmlns:a16="http://schemas.microsoft.com/office/drawing/2014/main" id="{7444CF04-CA1D-809C-FBF7-79FD9FADA298}"/>
              </a:ext>
            </a:extLst>
          </p:cNvPr>
          <p:cNvSpPr txBox="1">
            <a:spLocks/>
          </p:cNvSpPr>
          <p:nvPr/>
        </p:nvSpPr>
        <p:spPr>
          <a:xfrm>
            <a:off x="10368187" y="3099526"/>
            <a:ext cx="1150121" cy="32991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t>1 Hour</a:t>
            </a:r>
          </a:p>
        </p:txBody>
      </p:sp>
      <p:sp>
        <p:nvSpPr>
          <p:cNvPr id="458" name="Rectangle 457">
            <a:extLst>
              <a:ext uri="{FF2B5EF4-FFF2-40B4-BE49-F238E27FC236}">
                <a16:creationId xmlns:a16="http://schemas.microsoft.com/office/drawing/2014/main" id="{D6A4BD9A-EAB2-706A-BCA5-5CD3A7240EE6}"/>
              </a:ext>
            </a:extLst>
          </p:cNvPr>
          <p:cNvSpPr/>
          <p:nvPr/>
        </p:nvSpPr>
        <p:spPr>
          <a:xfrm>
            <a:off x="10467828" y="6298237"/>
            <a:ext cx="1724131" cy="296295"/>
          </a:xfrm>
          <a:prstGeom prst="rect">
            <a:avLst/>
          </a:prstGeom>
          <a:solidFill>
            <a:srgbClr val="F1D9C8"/>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Progress Check</a:t>
            </a:r>
          </a:p>
        </p:txBody>
      </p:sp>
      <p:sp>
        <p:nvSpPr>
          <p:cNvPr id="459" name="Arrow: Bent 458">
            <a:extLst>
              <a:ext uri="{FF2B5EF4-FFF2-40B4-BE49-F238E27FC236}">
                <a16:creationId xmlns:a16="http://schemas.microsoft.com/office/drawing/2014/main" id="{EE4236EC-BE5B-EA93-01B3-AE83C9E8182E}"/>
              </a:ext>
            </a:extLst>
          </p:cNvPr>
          <p:cNvSpPr/>
          <p:nvPr/>
        </p:nvSpPr>
        <p:spPr>
          <a:xfrm>
            <a:off x="8403293" y="1395677"/>
            <a:ext cx="417533" cy="84717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460" name="Arrow: Bent-Up 459">
            <a:extLst>
              <a:ext uri="{FF2B5EF4-FFF2-40B4-BE49-F238E27FC236}">
                <a16:creationId xmlns:a16="http://schemas.microsoft.com/office/drawing/2014/main" id="{9AB5FD18-CB2C-C126-80AA-8A6FCAA6D4FC}"/>
              </a:ext>
            </a:extLst>
          </p:cNvPr>
          <p:cNvSpPr/>
          <p:nvPr/>
        </p:nvSpPr>
        <p:spPr>
          <a:xfrm>
            <a:off x="8172673" y="2118707"/>
            <a:ext cx="426023" cy="368794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61" name="Text Placeholder 2">
            <a:extLst>
              <a:ext uri="{FF2B5EF4-FFF2-40B4-BE49-F238E27FC236}">
                <a16:creationId xmlns:a16="http://schemas.microsoft.com/office/drawing/2014/main" id="{204D50FC-3DA5-79DA-6A57-45CFAB1DB1AD}"/>
              </a:ext>
            </a:extLst>
          </p:cNvPr>
          <p:cNvSpPr txBox="1">
            <a:spLocks/>
          </p:cNvSpPr>
          <p:nvPr/>
        </p:nvSpPr>
        <p:spPr>
          <a:xfrm>
            <a:off x="6975726" y="4974949"/>
            <a:ext cx="1419568" cy="1173196"/>
          </a:xfrm>
          <a:prstGeom prst="roundRect">
            <a:avLst/>
          </a:prstGeom>
          <a:solidFill>
            <a:schemeClr val="accent5">
              <a:lumMod val="40000"/>
              <a:lumOff val="60000"/>
            </a:schemeClr>
          </a:solidFill>
        </p:spPr>
        <p:txBody>
          <a:bodyPr vert="horz" lIns="91440" tIns="45720" rIns="91440" bIns="45720"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a:solidFill>
                  <a:srgbClr val="404040"/>
                </a:solidFill>
                <a:latin typeface="Tenorite"/>
                <a:ea typeface="Tenorite"/>
                <a:cs typeface="Tenorite"/>
              </a:rPr>
              <a:t>Scrum Master and dev team look over the highest priority items in the </a:t>
            </a:r>
            <a:r>
              <a:rPr lang="en-US" sz="1100" b="1" i="0" u="none" strike="noStrike" baseline="0">
                <a:solidFill>
                  <a:srgbClr val="404040"/>
                </a:solidFill>
                <a:latin typeface="Tenorite"/>
                <a:ea typeface="Tenorite"/>
                <a:cs typeface="Tenorite"/>
              </a:rPr>
              <a:t>Team Backlog </a:t>
            </a:r>
            <a:r>
              <a:rPr lang="en-US" sz="1100" b="1">
                <a:solidFill>
                  <a:srgbClr val="404040"/>
                </a:solidFill>
                <a:latin typeface="Tenorite"/>
                <a:ea typeface="Tenorite"/>
                <a:cs typeface="Tenorite"/>
              </a:rPr>
              <a:t>to be added in the upcoming sprint.</a:t>
            </a:r>
            <a:endParaRPr lang="en-US"/>
          </a:p>
          <a:p>
            <a:endParaRPr lang="en-US" sz="1100" b="1">
              <a:solidFill>
                <a:srgbClr val="404040"/>
              </a:solidFill>
            </a:endParaRPr>
          </a:p>
        </p:txBody>
      </p:sp>
    </p:spTree>
    <p:extLst>
      <p:ext uri="{BB962C8B-B14F-4D97-AF65-F5344CB8AC3E}">
        <p14:creationId xmlns:p14="http://schemas.microsoft.com/office/powerpoint/2010/main" val="3340334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280150" y="2571235"/>
            <a:ext cx="5055870" cy="1715531"/>
          </a:xfrm>
        </p:spPr>
        <p:txBody>
          <a:bodyPr/>
          <a:lstStyle/>
          <a:p>
            <a:pPr algn="ctr"/>
            <a:r>
              <a:rPr lang="en-US" sz="5400" b="1"/>
              <a:t>Process flow</a:t>
            </a:r>
            <a:endParaRPr lang="en-US"/>
          </a:p>
        </p:txBody>
      </p:sp>
    </p:spTree>
    <p:extLst>
      <p:ext uri="{BB962C8B-B14F-4D97-AF65-F5344CB8AC3E}">
        <p14:creationId xmlns:p14="http://schemas.microsoft.com/office/powerpoint/2010/main" val="707789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1C437956-F0B5-61EC-B686-F8F1CC91ECBD}"/>
              </a:ext>
            </a:extLst>
          </p:cNvPr>
          <p:cNvSpPr/>
          <p:nvPr/>
        </p:nvSpPr>
        <p:spPr>
          <a:xfrm>
            <a:off x="2041" y="2050904"/>
            <a:ext cx="12187418" cy="11680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02AC093-6729-A789-E0D4-4403A9C8F5F4}"/>
              </a:ext>
            </a:extLst>
          </p:cNvPr>
          <p:cNvSpPr/>
          <p:nvPr/>
        </p:nvSpPr>
        <p:spPr>
          <a:xfrm>
            <a:off x="2041" y="5033187"/>
            <a:ext cx="12187418" cy="103437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8ACD38-F82D-D032-13CA-D8EC27C40637}"/>
              </a:ext>
            </a:extLst>
          </p:cNvPr>
          <p:cNvSpPr>
            <a:spLocks noGrp="1"/>
          </p:cNvSpPr>
          <p:nvPr>
            <p:ph type="title"/>
          </p:nvPr>
        </p:nvSpPr>
        <p:spPr>
          <a:xfrm>
            <a:off x="0" y="4178"/>
            <a:ext cx="12192000" cy="1159795"/>
          </a:xfrm>
        </p:spPr>
        <p:txBody>
          <a:bodyPr>
            <a:normAutofit/>
          </a:bodyPr>
          <a:lstStyle/>
          <a:p>
            <a:pPr algn="ctr"/>
            <a:r>
              <a:rPr lang="en-US" sz="3200" b="1">
                <a:solidFill>
                  <a:schemeClr val="accent1">
                    <a:lumMod val="49000"/>
                  </a:schemeClr>
                </a:solidFill>
              </a:rPr>
              <a:t>General</a:t>
            </a:r>
            <a:r>
              <a:rPr lang="en-US" sz="6000" b="1">
                <a:solidFill>
                  <a:schemeClr val="accent1">
                    <a:lumMod val="49000"/>
                  </a:schemeClr>
                </a:solidFill>
              </a:rPr>
              <a:t> </a:t>
            </a:r>
            <a:r>
              <a:rPr lang="en-US" sz="3200" b="1">
                <a:solidFill>
                  <a:schemeClr val="accent1">
                    <a:lumMod val="49000"/>
                  </a:schemeClr>
                </a:solidFill>
              </a:rPr>
              <a:t>Timeline</a:t>
            </a:r>
          </a:p>
        </p:txBody>
      </p:sp>
      <p:sp>
        <p:nvSpPr>
          <p:cNvPr id="3" name="Text Placeholder 2">
            <a:extLst>
              <a:ext uri="{FF2B5EF4-FFF2-40B4-BE49-F238E27FC236}">
                <a16:creationId xmlns:a16="http://schemas.microsoft.com/office/drawing/2014/main" id="{8BC4FE7E-18D3-6944-5AA9-3525BA363BB8}"/>
              </a:ext>
            </a:extLst>
          </p:cNvPr>
          <p:cNvSpPr>
            <a:spLocks noGrp="1"/>
          </p:cNvSpPr>
          <p:nvPr>
            <p:ph type="body" sz="quarter" idx="33"/>
          </p:nvPr>
        </p:nvSpPr>
        <p:spPr>
          <a:xfrm>
            <a:off x="477920" y="2266406"/>
            <a:ext cx="1322841" cy="1762476"/>
          </a:xfrm>
          <a:prstGeom prst="roundRect">
            <a:avLst/>
          </a:prstGeom>
          <a:solidFill>
            <a:schemeClr val="accent5">
              <a:lumMod val="40000"/>
              <a:lumOff val="60000"/>
            </a:schemeClr>
          </a:solidFill>
        </p:spPr>
        <p:txBody>
          <a:bodyPr>
            <a:normAutofit/>
          </a:bodyPr>
          <a:lstStyle/>
          <a:p>
            <a:r>
              <a:rPr lang="en-US"/>
              <a:t>Product Manager &amp; Customer define a product and its boundaries</a:t>
            </a:r>
          </a:p>
        </p:txBody>
      </p:sp>
      <p:sp>
        <p:nvSpPr>
          <p:cNvPr id="29" name="Date Placeholder 28">
            <a:extLst>
              <a:ext uri="{FF2B5EF4-FFF2-40B4-BE49-F238E27FC236}">
                <a16:creationId xmlns:a16="http://schemas.microsoft.com/office/drawing/2014/main" id="{8DBA2BA1-D0BA-9C5F-D414-2836DAD987BB}"/>
              </a:ext>
            </a:extLst>
          </p:cNvPr>
          <p:cNvSpPr>
            <a:spLocks noGrp="1"/>
          </p:cNvSpPr>
          <p:nvPr>
            <p:ph type="dt" sz="half" idx="10"/>
          </p:nvPr>
        </p:nvSpPr>
        <p:spPr/>
        <p:txBody>
          <a:bodyPr/>
          <a:lstStyle/>
          <a:p>
            <a:r>
              <a:rPr lang="en-US" noProof="0"/>
              <a:t>20XX</a:t>
            </a:r>
          </a:p>
        </p:txBody>
      </p:sp>
      <p:sp>
        <p:nvSpPr>
          <p:cNvPr id="30" name="Footer Placeholder 29">
            <a:extLst>
              <a:ext uri="{FF2B5EF4-FFF2-40B4-BE49-F238E27FC236}">
                <a16:creationId xmlns:a16="http://schemas.microsoft.com/office/drawing/2014/main" id="{DAF01F14-059D-AC6D-ED95-71FC313D00E3}"/>
              </a:ext>
            </a:extLst>
          </p:cNvPr>
          <p:cNvSpPr>
            <a:spLocks noGrp="1"/>
          </p:cNvSpPr>
          <p:nvPr>
            <p:ph type="ftr" sz="quarter" idx="11"/>
          </p:nvPr>
        </p:nvSpPr>
        <p:spPr/>
        <p:txBody>
          <a:bodyPr/>
          <a:lstStyle/>
          <a:p>
            <a:r>
              <a:rPr lang="en-US" noProof="0"/>
              <a:t>Pitch Deck</a:t>
            </a:r>
          </a:p>
        </p:txBody>
      </p:sp>
      <p:sp>
        <p:nvSpPr>
          <p:cNvPr id="31" name="Slide Number Placeholder 30">
            <a:extLst>
              <a:ext uri="{FF2B5EF4-FFF2-40B4-BE49-F238E27FC236}">
                <a16:creationId xmlns:a16="http://schemas.microsoft.com/office/drawing/2014/main" id="{32E39B3C-63BC-8FBC-CCF7-808979F540C9}"/>
              </a:ext>
            </a:extLst>
          </p:cNvPr>
          <p:cNvSpPr>
            <a:spLocks noGrp="1"/>
          </p:cNvSpPr>
          <p:nvPr>
            <p:ph type="sldNum" sz="quarter" idx="12"/>
          </p:nvPr>
        </p:nvSpPr>
        <p:spPr/>
        <p:txBody>
          <a:bodyPr/>
          <a:lstStyle/>
          <a:p>
            <a:fld id="{B5CEABB6-07DC-46E8-9B57-56EC44A396E5}" type="slidenum">
              <a:rPr lang="en-US" noProof="0" smtClean="0"/>
              <a:t>5</a:t>
            </a:fld>
            <a:endParaRPr lang="en-US" noProof="0"/>
          </a:p>
        </p:txBody>
      </p:sp>
      <p:sp>
        <p:nvSpPr>
          <p:cNvPr id="33" name="Text Placeholder 2">
            <a:extLst>
              <a:ext uri="{FF2B5EF4-FFF2-40B4-BE49-F238E27FC236}">
                <a16:creationId xmlns:a16="http://schemas.microsoft.com/office/drawing/2014/main" id="{E82EAB61-780C-5639-0021-5D93E7534D10}"/>
              </a:ext>
            </a:extLst>
          </p:cNvPr>
          <p:cNvSpPr txBox="1">
            <a:spLocks/>
          </p:cNvSpPr>
          <p:nvPr/>
        </p:nvSpPr>
        <p:spPr>
          <a:xfrm>
            <a:off x="1799870" y="4150284"/>
            <a:ext cx="1329962" cy="176247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Product Backlog filled and prioritized in line with the product goal</a:t>
            </a:r>
          </a:p>
        </p:txBody>
      </p:sp>
      <p:sp>
        <p:nvSpPr>
          <p:cNvPr id="35" name="Text Placeholder 2">
            <a:extLst>
              <a:ext uri="{FF2B5EF4-FFF2-40B4-BE49-F238E27FC236}">
                <a16:creationId xmlns:a16="http://schemas.microsoft.com/office/drawing/2014/main" id="{5EF35838-5F5C-A2D1-31E9-93D0B6847AFC}"/>
              </a:ext>
            </a:extLst>
          </p:cNvPr>
          <p:cNvSpPr txBox="1">
            <a:spLocks/>
          </p:cNvSpPr>
          <p:nvPr/>
        </p:nvSpPr>
        <p:spPr>
          <a:xfrm>
            <a:off x="3054250" y="2185126"/>
            <a:ext cx="1315720" cy="176247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Product Backlog is refined constantly throughout the process</a:t>
            </a:r>
          </a:p>
        </p:txBody>
      </p:sp>
      <p:sp>
        <p:nvSpPr>
          <p:cNvPr id="37" name="Text Placeholder 2">
            <a:extLst>
              <a:ext uri="{FF2B5EF4-FFF2-40B4-BE49-F238E27FC236}">
                <a16:creationId xmlns:a16="http://schemas.microsoft.com/office/drawing/2014/main" id="{3A9AFDDB-20A5-9D80-F5BE-4C505767E5C2}"/>
              </a:ext>
            </a:extLst>
          </p:cNvPr>
          <p:cNvSpPr txBox="1">
            <a:spLocks/>
          </p:cNvSpPr>
          <p:nvPr/>
        </p:nvSpPr>
        <p:spPr>
          <a:xfrm>
            <a:off x="4070685" y="4150284"/>
            <a:ext cx="1315720" cy="176247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Program Interval Planning: Define increment goal and how work is delegated</a:t>
            </a:r>
          </a:p>
        </p:txBody>
      </p:sp>
      <p:sp>
        <p:nvSpPr>
          <p:cNvPr id="38" name="Text Placeholder 2">
            <a:extLst>
              <a:ext uri="{FF2B5EF4-FFF2-40B4-BE49-F238E27FC236}">
                <a16:creationId xmlns:a16="http://schemas.microsoft.com/office/drawing/2014/main" id="{C8239DC8-142B-C2D7-7A29-E3F65CDE3313}"/>
              </a:ext>
            </a:extLst>
          </p:cNvPr>
          <p:cNvSpPr txBox="1">
            <a:spLocks/>
          </p:cNvSpPr>
          <p:nvPr/>
        </p:nvSpPr>
        <p:spPr>
          <a:xfrm>
            <a:off x="5378115" y="2185125"/>
            <a:ext cx="1315720" cy="176247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Team Backlog(s) filled and prioritized</a:t>
            </a:r>
          </a:p>
        </p:txBody>
      </p:sp>
      <p:sp>
        <p:nvSpPr>
          <p:cNvPr id="39" name="Text Placeholder 2">
            <a:extLst>
              <a:ext uri="{FF2B5EF4-FFF2-40B4-BE49-F238E27FC236}">
                <a16:creationId xmlns:a16="http://schemas.microsoft.com/office/drawing/2014/main" id="{88D6CA51-8DBE-CA13-F101-2F8BAD3EA05B}"/>
              </a:ext>
            </a:extLst>
          </p:cNvPr>
          <p:cNvSpPr txBox="1">
            <a:spLocks/>
          </p:cNvSpPr>
          <p:nvPr/>
        </p:nvSpPr>
        <p:spPr>
          <a:xfrm>
            <a:off x="6698915" y="4150283"/>
            <a:ext cx="1272992" cy="1762476"/>
          </a:xfrm>
          <a:prstGeom prst="roundRect">
            <a:avLst/>
          </a:prstGeom>
          <a:solidFill>
            <a:schemeClr val="accent5">
              <a:lumMod val="40000"/>
              <a:lumOff val="60000"/>
            </a:schemeClr>
          </a:solidFill>
        </p:spPr>
        <p:txBody>
          <a:bodyPr vert="horz" lIns="91440" tIns="45720" rIns="91440" bIns="45720" rtlCol="0" anchor="ctr">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Interval occurs: Tasks from Team Backlog are completed, Backlog is continuously inspected and refined when needed</a:t>
            </a:r>
          </a:p>
        </p:txBody>
      </p:sp>
      <p:sp>
        <p:nvSpPr>
          <p:cNvPr id="42" name="Text Placeholder 2">
            <a:extLst>
              <a:ext uri="{FF2B5EF4-FFF2-40B4-BE49-F238E27FC236}">
                <a16:creationId xmlns:a16="http://schemas.microsoft.com/office/drawing/2014/main" id="{AC9B0333-B7D5-BBBE-CFD1-FE0B8FCA5066}"/>
              </a:ext>
            </a:extLst>
          </p:cNvPr>
          <p:cNvSpPr txBox="1">
            <a:spLocks/>
          </p:cNvSpPr>
          <p:nvPr/>
        </p:nvSpPr>
        <p:spPr>
          <a:xfrm>
            <a:off x="7968913" y="2185124"/>
            <a:ext cx="1272992" cy="1762476"/>
          </a:xfrm>
          <a:prstGeom prst="roundRect">
            <a:avLst/>
          </a:prstGeom>
          <a:solidFill>
            <a:schemeClr val="accent5">
              <a:lumMod val="40000"/>
              <a:lumOff val="60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Increment: A collection of completed items from the Team(s) Backlog</a:t>
            </a:r>
          </a:p>
        </p:txBody>
      </p:sp>
      <p:sp>
        <p:nvSpPr>
          <p:cNvPr id="43" name="Text Placeholder 2">
            <a:extLst>
              <a:ext uri="{FF2B5EF4-FFF2-40B4-BE49-F238E27FC236}">
                <a16:creationId xmlns:a16="http://schemas.microsoft.com/office/drawing/2014/main" id="{C34ACEDB-89E7-7364-4C62-54C04821D200}"/>
              </a:ext>
            </a:extLst>
          </p:cNvPr>
          <p:cNvSpPr txBox="1">
            <a:spLocks/>
          </p:cNvSpPr>
          <p:nvPr/>
        </p:nvSpPr>
        <p:spPr>
          <a:xfrm>
            <a:off x="9238913" y="4150281"/>
            <a:ext cx="1272992" cy="1762476"/>
          </a:xfrm>
          <a:prstGeom prst="roundRect">
            <a:avLst/>
          </a:prstGeom>
          <a:solidFill>
            <a:schemeClr val="accent5">
              <a:lumMod val="40000"/>
              <a:lumOff val="60000"/>
            </a:schemeClr>
          </a:solidFill>
        </p:spPr>
        <p:txBody>
          <a:bodyPr vert="horz" lIns="91440" tIns="45720" rIns="91440" bIns="45720" rtlCol="0" anchor="ctr">
            <a:normAutofit fontScale="7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Interval Review:</a:t>
            </a:r>
          </a:p>
          <a:p>
            <a:r>
              <a:rPr lang="en-US"/>
              <a:t>With stakeholders, consider how progress was made and how that progress aligned with the product goal</a:t>
            </a:r>
          </a:p>
        </p:txBody>
      </p:sp>
      <p:sp>
        <p:nvSpPr>
          <p:cNvPr id="44" name="Text Placeholder 2">
            <a:extLst>
              <a:ext uri="{FF2B5EF4-FFF2-40B4-BE49-F238E27FC236}">
                <a16:creationId xmlns:a16="http://schemas.microsoft.com/office/drawing/2014/main" id="{FCFD0E9E-8D18-A9C6-3522-0B4D45A8AF93}"/>
              </a:ext>
            </a:extLst>
          </p:cNvPr>
          <p:cNvSpPr txBox="1">
            <a:spLocks/>
          </p:cNvSpPr>
          <p:nvPr/>
        </p:nvSpPr>
        <p:spPr>
          <a:xfrm>
            <a:off x="10508913" y="2185124"/>
            <a:ext cx="1272992" cy="1762476"/>
          </a:xfrm>
          <a:prstGeom prst="roundRect">
            <a:avLst/>
          </a:prstGeom>
          <a:solidFill>
            <a:schemeClr val="accent5">
              <a:lumMod val="40000"/>
              <a:lumOff val="60000"/>
            </a:schemeClr>
          </a:solidFill>
        </p:spPr>
        <p:txBody>
          <a:bodyPr vert="horz" lIns="91440" tIns="45720" rIns="91440" bIns="45720" rtlCol="0" anchor="ctr">
            <a:normAutofit fontScale="85000" lnSpcReduction="10000"/>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75000"/>
                    <a:lumOff val="25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Interval Retrospective:</a:t>
            </a:r>
          </a:p>
          <a:p>
            <a:r>
              <a:rPr lang="en-US"/>
              <a:t>Consider individual progress, interactions, processes, and necessary improvements</a:t>
            </a:r>
          </a:p>
        </p:txBody>
      </p:sp>
      <p:sp>
        <p:nvSpPr>
          <p:cNvPr id="46" name="Arrow: Right 45">
            <a:extLst>
              <a:ext uri="{FF2B5EF4-FFF2-40B4-BE49-F238E27FC236}">
                <a16:creationId xmlns:a16="http://schemas.microsoft.com/office/drawing/2014/main" id="{E1DFE0EE-B66D-73EC-1683-D57EB174722B}"/>
              </a:ext>
            </a:extLst>
          </p:cNvPr>
          <p:cNvSpPr/>
          <p:nvPr/>
        </p:nvSpPr>
        <p:spPr>
          <a:xfrm rot="3360000">
            <a:off x="1364114" y="3927641"/>
            <a:ext cx="670559" cy="441959"/>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Arrow: Right 46">
            <a:extLst>
              <a:ext uri="{FF2B5EF4-FFF2-40B4-BE49-F238E27FC236}">
                <a16:creationId xmlns:a16="http://schemas.microsoft.com/office/drawing/2014/main" id="{0AA685E4-BEBC-93C6-2A55-F8EB6A73BDE2}"/>
              </a:ext>
            </a:extLst>
          </p:cNvPr>
          <p:cNvSpPr/>
          <p:nvPr/>
        </p:nvSpPr>
        <p:spPr>
          <a:xfrm rot="18120000">
            <a:off x="2800498" y="3815881"/>
            <a:ext cx="670559" cy="441959"/>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Right 47">
            <a:extLst>
              <a:ext uri="{FF2B5EF4-FFF2-40B4-BE49-F238E27FC236}">
                <a16:creationId xmlns:a16="http://schemas.microsoft.com/office/drawing/2014/main" id="{F2CA70D0-BD4C-787D-A371-D16C82A53A84}"/>
              </a:ext>
            </a:extLst>
          </p:cNvPr>
          <p:cNvSpPr/>
          <p:nvPr/>
        </p:nvSpPr>
        <p:spPr>
          <a:xfrm rot="3360000">
            <a:off x="4018012" y="3815881"/>
            <a:ext cx="670559" cy="441959"/>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Right 48">
            <a:extLst>
              <a:ext uri="{FF2B5EF4-FFF2-40B4-BE49-F238E27FC236}">
                <a16:creationId xmlns:a16="http://schemas.microsoft.com/office/drawing/2014/main" id="{C125A136-77D2-86AE-0605-A7762412A3DD}"/>
              </a:ext>
            </a:extLst>
          </p:cNvPr>
          <p:cNvSpPr/>
          <p:nvPr/>
        </p:nvSpPr>
        <p:spPr>
          <a:xfrm rot="18120000">
            <a:off x="5033477" y="3815881"/>
            <a:ext cx="670559" cy="441959"/>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row: Right 49">
            <a:extLst>
              <a:ext uri="{FF2B5EF4-FFF2-40B4-BE49-F238E27FC236}">
                <a16:creationId xmlns:a16="http://schemas.microsoft.com/office/drawing/2014/main" id="{91755586-082E-B418-ABCB-87EC31505D16}"/>
              </a:ext>
            </a:extLst>
          </p:cNvPr>
          <p:cNvSpPr/>
          <p:nvPr/>
        </p:nvSpPr>
        <p:spPr>
          <a:xfrm rot="3360000">
            <a:off x="6356950" y="3815881"/>
            <a:ext cx="670559" cy="441959"/>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Arrow: Right 50">
            <a:extLst>
              <a:ext uri="{FF2B5EF4-FFF2-40B4-BE49-F238E27FC236}">
                <a16:creationId xmlns:a16="http://schemas.microsoft.com/office/drawing/2014/main" id="{14782290-F5AC-7448-1067-112ACF2A28A8}"/>
              </a:ext>
            </a:extLst>
          </p:cNvPr>
          <p:cNvSpPr/>
          <p:nvPr/>
        </p:nvSpPr>
        <p:spPr>
          <a:xfrm rot="18120000">
            <a:off x="7626950" y="3815881"/>
            <a:ext cx="670559" cy="441959"/>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03FAD2D2-2D27-1BA5-9E3A-FC8218F3B320}"/>
              </a:ext>
            </a:extLst>
          </p:cNvPr>
          <p:cNvSpPr/>
          <p:nvPr/>
        </p:nvSpPr>
        <p:spPr>
          <a:xfrm rot="3360000">
            <a:off x="8896949" y="3815880"/>
            <a:ext cx="670559" cy="441959"/>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Arrow: Right 52">
            <a:extLst>
              <a:ext uri="{FF2B5EF4-FFF2-40B4-BE49-F238E27FC236}">
                <a16:creationId xmlns:a16="http://schemas.microsoft.com/office/drawing/2014/main" id="{5D8BE730-2384-89F0-824D-86B061BAE5E6}"/>
              </a:ext>
            </a:extLst>
          </p:cNvPr>
          <p:cNvSpPr/>
          <p:nvPr/>
        </p:nvSpPr>
        <p:spPr>
          <a:xfrm rot="18120000">
            <a:off x="10166949" y="3815880"/>
            <a:ext cx="670559" cy="441959"/>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19A16B80-769A-4BFA-D3F0-E45943377B9D}"/>
              </a:ext>
            </a:extLst>
          </p:cNvPr>
          <p:cNvSpPr txBox="1"/>
          <p:nvPr/>
        </p:nvSpPr>
        <p:spPr>
          <a:xfrm>
            <a:off x="1871" y="935521"/>
            <a:ext cx="1218638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chemeClr val="tx1">
                    <a:lumMod val="65000"/>
                    <a:lumOff val="35000"/>
                  </a:schemeClr>
                </a:solidFill>
              </a:rPr>
              <a:t>Each increment aims to implement the highest-priority items, providing greater detail in proportion with level of priority.</a:t>
            </a:r>
            <a:endParaRPr lang="en-US" b="1">
              <a:solidFill>
                <a:schemeClr val="tx1">
                  <a:lumMod val="65000"/>
                  <a:lumOff val="35000"/>
                </a:schemeClr>
              </a:solidFill>
            </a:endParaRPr>
          </a:p>
        </p:txBody>
      </p:sp>
    </p:spTree>
    <p:extLst>
      <p:ext uri="{BB962C8B-B14F-4D97-AF65-F5344CB8AC3E}">
        <p14:creationId xmlns:p14="http://schemas.microsoft.com/office/powerpoint/2010/main" val="1070062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308643" y="2255839"/>
            <a:ext cx="10138276" cy="1180180"/>
          </a:xfrm>
        </p:spPr>
        <p:txBody>
          <a:bodyPr>
            <a:noAutofit/>
          </a:bodyPr>
          <a:lstStyle/>
          <a:p>
            <a:r>
              <a:rPr lang="en-US" sz="4000" b="1"/>
              <a:t>Art Roles &amp; Responsibilities</a:t>
            </a:r>
          </a:p>
        </p:txBody>
      </p:sp>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a:lstStyle/>
          <a:p>
            <a:r>
              <a:rPr lang="en-US"/>
              <a:t>20XX</a:t>
            </a:r>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a:lstStyle/>
          <a:p>
            <a:r>
              <a:rPr lang="en-US"/>
              <a:t>Pitch Deck</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a:p>
        </p:txBody>
      </p:sp>
    </p:spTree>
    <p:extLst>
      <p:ext uri="{BB962C8B-B14F-4D97-AF65-F5344CB8AC3E}">
        <p14:creationId xmlns:p14="http://schemas.microsoft.com/office/powerpoint/2010/main" val="2500920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1CC6F90-E005-9D10-54B3-AA63AB2BF914}"/>
              </a:ext>
            </a:extLst>
          </p:cNvPr>
          <p:cNvSpPr>
            <a:spLocks noGrp="1"/>
          </p:cNvSpPr>
          <p:nvPr>
            <p:ph type="body" idx="1"/>
          </p:nvPr>
        </p:nvSpPr>
        <p:spPr>
          <a:xfrm>
            <a:off x="1190848" y="741124"/>
            <a:ext cx="2326943" cy="457361"/>
          </a:xfrm>
        </p:spPr>
        <p:txBody>
          <a:bodyPr/>
          <a:lstStyle/>
          <a:p>
            <a:r>
              <a:rPr lang="en-US" sz="2400" b="1"/>
              <a:t>Product Manager</a:t>
            </a:r>
          </a:p>
        </p:txBody>
      </p:sp>
      <p:sp>
        <p:nvSpPr>
          <p:cNvPr id="15" name="Date Placeholder 14">
            <a:extLst>
              <a:ext uri="{FF2B5EF4-FFF2-40B4-BE49-F238E27FC236}">
                <a16:creationId xmlns:a16="http://schemas.microsoft.com/office/drawing/2014/main" id="{72BD3211-71CE-F877-D0B3-FF62D76657FD}"/>
              </a:ext>
            </a:extLst>
          </p:cNvPr>
          <p:cNvSpPr>
            <a:spLocks noGrp="1"/>
          </p:cNvSpPr>
          <p:nvPr>
            <p:ph type="dt" sz="half" idx="10"/>
          </p:nvPr>
        </p:nvSpPr>
        <p:spPr/>
        <p:txBody>
          <a:bodyPr/>
          <a:lstStyle/>
          <a:p>
            <a:r>
              <a:rPr lang="en-US"/>
              <a:t>20XX</a:t>
            </a:r>
          </a:p>
        </p:txBody>
      </p:sp>
      <p:sp>
        <p:nvSpPr>
          <p:cNvPr id="16" name="Footer Placeholder 15">
            <a:extLst>
              <a:ext uri="{FF2B5EF4-FFF2-40B4-BE49-F238E27FC236}">
                <a16:creationId xmlns:a16="http://schemas.microsoft.com/office/drawing/2014/main" id="{67D65DDB-5A39-5C71-D54E-40B487341148}"/>
              </a:ext>
            </a:extLst>
          </p:cNvPr>
          <p:cNvSpPr>
            <a:spLocks noGrp="1"/>
          </p:cNvSpPr>
          <p:nvPr>
            <p:ph type="ftr" sz="quarter" idx="11"/>
          </p:nvPr>
        </p:nvSpPr>
        <p:spPr/>
        <p:txBody>
          <a:bodyPr/>
          <a:lstStyle/>
          <a:p>
            <a:r>
              <a:rPr lang="en-US"/>
              <a:t>Pitch Deck</a:t>
            </a:r>
          </a:p>
        </p:txBody>
      </p:sp>
      <p:sp>
        <p:nvSpPr>
          <p:cNvPr id="17" name="Slide Number Placeholder 16">
            <a:extLst>
              <a:ext uri="{FF2B5EF4-FFF2-40B4-BE49-F238E27FC236}">
                <a16:creationId xmlns:a16="http://schemas.microsoft.com/office/drawing/2014/main" id="{94779293-F242-25E4-5D22-B36A6B10CF53}"/>
              </a:ext>
            </a:extLst>
          </p:cNvPr>
          <p:cNvSpPr>
            <a:spLocks noGrp="1"/>
          </p:cNvSpPr>
          <p:nvPr>
            <p:ph type="sldNum" sz="quarter" idx="12"/>
          </p:nvPr>
        </p:nvSpPr>
        <p:spPr/>
        <p:txBody>
          <a:bodyPr/>
          <a:lstStyle/>
          <a:p>
            <a:fld id="{B5CEABB6-07DC-46E8-9B57-56EC44A396E5}" type="slidenum">
              <a:rPr lang="en-US" smtClean="0"/>
              <a:t>7</a:t>
            </a:fld>
            <a:endParaRPr lang="en-US"/>
          </a:p>
        </p:txBody>
      </p:sp>
      <p:sp>
        <p:nvSpPr>
          <p:cNvPr id="19" name="TextBox 18">
            <a:extLst>
              <a:ext uri="{FF2B5EF4-FFF2-40B4-BE49-F238E27FC236}">
                <a16:creationId xmlns:a16="http://schemas.microsoft.com/office/drawing/2014/main" id="{2721382F-3762-644D-2CA3-FEA28793622B}"/>
              </a:ext>
            </a:extLst>
          </p:cNvPr>
          <p:cNvSpPr txBox="1"/>
          <p:nvPr/>
        </p:nvSpPr>
        <p:spPr>
          <a:xfrm>
            <a:off x="1355563" y="1465466"/>
            <a:ext cx="2132121"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Responsible for defining and maintaining the development of products that align with customer needs.</a:t>
            </a:r>
          </a:p>
        </p:txBody>
      </p:sp>
      <p:sp>
        <p:nvSpPr>
          <p:cNvPr id="20" name="TextBox 19">
            <a:extLst>
              <a:ext uri="{FF2B5EF4-FFF2-40B4-BE49-F238E27FC236}">
                <a16:creationId xmlns:a16="http://schemas.microsoft.com/office/drawing/2014/main" id="{AAB95CB5-4ADE-D1B2-3F1E-9F4457B68961}"/>
              </a:ext>
            </a:extLst>
          </p:cNvPr>
          <p:cNvSpPr txBox="1"/>
          <p:nvPr/>
        </p:nvSpPr>
        <p:spPr>
          <a:xfrm>
            <a:off x="3705062" y="1478165"/>
            <a:ext cx="2513121"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Responsible for establishing the architecture of the entire system, aiding in identifying NFRs, deciding significance of different subsystems aiding in their associated collaborations.</a:t>
            </a:r>
          </a:p>
        </p:txBody>
      </p:sp>
      <p:sp>
        <p:nvSpPr>
          <p:cNvPr id="28" name="Text Placeholder 6">
            <a:extLst>
              <a:ext uri="{FF2B5EF4-FFF2-40B4-BE49-F238E27FC236}">
                <a16:creationId xmlns:a16="http://schemas.microsoft.com/office/drawing/2014/main" id="{FE7F06E7-F794-1A7D-A614-F90804DF3EF3}"/>
              </a:ext>
            </a:extLst>
          </p:cNvPr>
          <p:cNvSpPr txBox="1">
            <a:spLocks/>
          </p:cNvSpPr>
          <p:nvPr/>
        </p:nvSpPr>
        <p:spPr>
          <a:xfrm>
            <a:off x="3514948" y="741124"/>
            <a:ext cx="2339643" cy="45736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1200" spc="150" baseline="0" dirty="0" smtClean="0">
                <a:solidFill>
                  <a:schemeClr val="tx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400" b="1"/>
              <a:t>System Architect</a:t>
            </a:r>
          </a:p>
        </p:txBody>
      </p:sp>
      <p:sp>
        <p:nvSpPr>
          <p:cNvPr id="29" name="Text Placeholder 6">
            <a:extLst>
              <a:ext uri="{FF2B5EF4-FFF2-40B4-BE49-F238E27FC236}">
                <a16:creationId xmlns:a16="http://schemas.microsoft.com/office/drawing/2014/main" id="{435A78B5-DDF1-4D39-23DF-31E6D9D1A011}"/>
              </a:ext>
            </a:extLst>
          </p:cNvPr>
          <p:cNvSpPr txBox="1">
            <a:spLocks/>
          </p:cNvSpPr>
          <p:nvPr/>
        </p:nvSpPr>
        <p:spPr>
          <a:xfrm>
            <a:off x="5851748" y="741123"/>
            <a:ext cx="2923843" cy="47006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1200" spc="150" baseline="0" dirty="0" smtClean="0">
                <a:solidFill>
                  <a:schemeClr val="tx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400" b="1"/>
              <a:t>Release Train Engineer</a:t>
            </a:r>
          </a:p>
        </p:txBody>
      </p:sp>
      <p:sp>
        <p:nvSpPr>
          <p:cNvPr id="30" name="Text Placeholder 6">
            <a:extLst>
              <a:ext uri="{FF2B5EF4-FFF2-40B4-BE49-F238E27FC236}">
                <a16:creationId xmlns:a16="http://schemas.microsoft.com/office/drawing/2014/main" id="{04B91CA1-9640-D302-1069-36C1CB5DD428}"/>
              </a:ext>
            </a:extLst>
          </p:cNvPr>
          <p:cNvSpPr txBox="1">
            <a:spLocks/>
          </p:cNvSpPr>
          <p:nvPr/>
        </p:nvSpPr>
        <p:spPr>
          <a:xfrm>
            <a:off x="8747348" y="741123"/>
            <a:ext cx="2555543" cy="45736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1200" spc="150" baseline="0" dirty="0" smtClean="0">
                <a:solidFill>
                  <a:schemeClr val="tx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400" b="1"/>
              <a:t>Business Owners</a:t>
            </a:r>
          </a:p>
        </p:txBody>
      </p:sp>
      <p:sp>
        <p:nvSpPr>
          <p:cNvPr id="35" name="TextBox 34">
            <a:extLst>
              <a:ext uri="{FF2B5EF4-FFF2-40B4-BE49-F238E27FC236}">
                <a16:creationId xmlns:a16="http://schemas.microsoft.com/office/drawing/2014/main" id="{FBAE225D-1BBB-CFB1-3EAB-6FAD70E66A3C}"/>
              </a:ext>
            </a:extLst>
          </p:cNvPr>
          <p:cNvSpPr txBox="1"/>
          <p:nvPr/>
        </p:nvSpPr>
        <p:spPr>
          <a:xfrm>
            <a:off x="6372062" y="1452764"/>
            <a:ext cx="2144821"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Responsible for ensuring that the RTE operates with ART-aligned events and ensuring Scrum Masters adhere to ART standards.</a:t>
            </a:r>
          </a:p>
          <a:p>
            <a:r>
              <a:rPr lang="en-US" sz="2400"/>
              <a:t>*Will not be part of team role, but good for reference.</a:t>
            </a:r>
          </a:p>
        </p:txBody>
      </p:sp>
      <p:sp>
        <p:nvSpPr>
          <p:cNvPr id="36" name="TextBox 35">
            <a:extLst>
              <a:ext uri="{FF2B5EF4-FFF2-40B4-BE49-F238E27FC236}">
                <a16:creationId xmlns:a16="http://schemas.microsoft.com/office/drawing/2014/main" id="{86B296C7-05FF-0B24-9C1B-E06431D2C7D7}"/>
              </a:ext>
            </a:extLst>
          </p:cNvPr>
          <p:cNvSpPr txBox="1"/>
          <p:nvPr/>
        </p:nvSpPr>
        <p:spPr>
          <a:xfrm>
            <a:off x="9140662" y="1465464"/>
            <a:ext cx="2335321"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Responsible for establishing the architecture of the entire system, aiding in identifying NFRs, deciding significance of different subsystems aiding in their associated collaborations.</a:t>
            </a:r>
          </a:p>
        </p:txBody>
      </p:sp>
      <p:cxnSp>
        <p:nvCxnSpPr>
          <p:cNvPr id="38" name="Straight Arrow Connector 37">
            <a:extLst>
              <a:ext uri="{FF2B5EF4-FFF2-40B4-BE49-F238E27FC236}">
                <a16:creationId xmlns:a16="http://schemas.microsoft.com/office/drawing/2014/main" id="{EF0CAB75-B17D-9C08-B8D9-1CCBB15530B0}"/>
              </a:ext>
            </a:extLst>
          </p:cNvPr>
          <p:cNvCxnSpPr/>
          <p:nvPr/>
        </p:nvCxnSpPr>
        <p:spPr>
          <a:xfrm>
            <a:off x="1190625" y="1381125"/>
            <a:ext cx="10287000" cy="12700"/>
          </a:xfrm>
          <a:prstGeom prst="straightConnector1">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17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308643" y="2255839"/>
            <a:ext cx="10138276" cy="1180180"/>
          </a:xfrm>
        </p:spPr>
        <p:txBody>
          <a:bodyPr>
            <a:noAutofit/>
          </a:bodyPr>
          <a:lstStyle/>
          <a:p>
            <a:r>
              <a:rPr lang="en-US" sz="4000" b="1"/>
              <a:t>Team Roles &amp; Responsibilities</a:t>
            </a:r>
          </a:p>
        </p:txBody>
      </p:sp>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a:lstStyle/>
          <a:p>
            <a:r>
              <a:rPr lang="en-US"/>
              <a:t>20XX</a:t>
            </a:r>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a:lstStyle/>
          <a:p>
            <a:r>
              <a:rPr lang="en-US"/>
              <a:t>Pitch Deck</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8</a:t>
            </a:fld>
            <a:endParaRPr lang="en-US"/>
          </a:p>
        </p:txBody>
      </p:sp>
    </p:spTree>
    <p:extLst>
      <p:ext uri="{BB962C8B-B14F-4D97-AF65-F5344CB8AC3E}">
        <p14:creationId xmlns:p14="http://schemas.microsoft.com/office/powerpoint/2010/main" val="1346372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40BF6865-7FAE-4B56-A995-ADF1582DCC64}"/>
              </a:ext>
            </a:extLst>
          </p:cNvPr>
          <p:cNvSpPr>
            <a:spLocks noGrp="1"/>
          </p:cNvSpPr>
          <p:nvPr>
            <p:ph type="dt" sz="half" idx="10"/>
          </p:nvPr>
        </p:nvSpPr>
        <p:spPr>
          <a:xfrm>
            <a:off x="838200" y="6356350"/>
            <a:ext cx="2743200" cy="365125"/>
          </a:xfrm>
        </p:spPr>
        <p:txBody>
          <a:bodyPr/>
          <a:lstStyle/>
          <a:p>
            <a:r>
              <a:rPr lang="en-US"/>
              <a:t>20XX</a:t>
            </a:r>
          </a:p>
        </p:txBody>
      </p:sp>
      <p:sp>
        <p:nvSpPr>
          <p:cNvPr id="12" name="Footer Placeholder 11">
            <a:extLst>
              <a:ext uri="{FF2B5EF4-FFF2-40B4-BE49-F238E27FC236}">
                <a16:creationId xmlns:a16="http://schemas.microsoft.com/office/drawing/2014/main" id="{7312B71A-5E84-41DE-9754-5F6291F6DFB7}"/>
              </a:ext>
            </a:extLst>
          </p:cNvPr>
          <p:cNvSpPr>
            <a:spLocks noGrp="1"/>
          </p:cNvSpPr>
          <p:nvPr>
            <p:ph type="ftr" sz="quarter" idx="11"/>
          </p:nvPr>
        </p:nvSpPr>
        <p:spPr>
          <a:xfrm>
            <a:off x="6155823" y="6356350"/>
            <a:ext cx="1808712" cy="365125"/>
          </a:xfrm>
        </p:spPr>
        <p:txBody>
          <a:bodyPr/>
          <a:lstStyle/>
          <a:p>
            <a:r>
              <a:rPr lang="en-US"/>
              <a:t>Pitch Deck</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9</a:t>
            </a:fld>
            <a:endParaRPr lang="en-US"/>
          </a:p>
        </p:txBody>
      </p:sp>
      <p:sp>
        <p:nvSpPr>
          <p:cNvPr id="33" name="Title 1">
            <a:extLst>
              <a:ext uri="{FF2B5EF4-FFF2-40B4-BE49-F238E27FC236}">
                <a16:creationId xmlns:a16="http://schemas.microsoft.com/office/drawing/2014/main" id="{43AF71B4-EEC4-7791-76E3-09F0E0D03F94}"/>
              </a:ext>
            </a:extLst>
          </p:cNvPr>
          <p:cNvSpPr>
            <a:spLocks noGrp="1"/>
          </p:cNvSpPr>
          <p:nvPr>
            <p:ph type="title"/>
          </p:nvPr>
        </p:nvSpPr>
        <p:spPr>
          <a:xfrm>
            <a:off x="5920169" y="1025771"/>
            <a:ext cx="5431971" cy="846301"/>
          </a:xfrm>
        </p:spPr>
        <p:txBody>
          <a:bodyPr>
            <a:normAutofit/>
          </a:bodyPr>
          <a:lstStyle/>
          <a:p>
            <a:r>
              <a:rPr lang="en-US" sz="4800" b="1">
                <a:solidFill>
                  <a:schemeClr val="accent1">
                    <a:lumMod val="49000"/>
                  </a:schemeClr>
                </a:solidFill>
              </a:rPr>
              <a:t>PRODUCT OWNER</a:t>
            </a:r>
            <a:endParaRPr lang="en-US"/>
          </a:p>
        </p:txBody>
      </p:sp>
      <p:sp>
        <p:nvSpPr>
          <p:cNvPr id="35" name="Text Placeholder 5">
            <a:extLst>
              <a:ext uri="{FF2B5EF4-FFF2-40B4-BE49-F238E27FC236}">
                <a16:creationId xmlns:a16="http://schemas.microsoft.com/office/drawing/2014/main" id="{36490333-E0D7-6B65-FF22-157E70C67CD5}"/>
              </a:ext>
            </a:extLst>
          </p:cNvPr>
          <p:cNvSpPr>
            <a:spLocks noGrp="1"/>
          </p:cNvSpPr>
          <p:nvPr>
            <p:ph type="body" sz="quarter" idx="13"/>
          </p:nvPr>
        </p:nvSpPr>
        <p:spPr>
          <a:xfrm>
            <a:off x="334254" y="1986915"/>
            <a:ext cx="5433204" cy="365125"/>
          </a:xfrm>
        </p:spPr>
        <p:txBody>
          <a:bodyPr vert="horz" lIns="91440" tIns="45720" rIns="91440" bIns="45720" rtlCol="0" anchor="t">
            <a:noAutofit/>
          </a:bodyPr>
          <a:lstStyle/>
          <a:p>
            <a:pPr algn="l"/>
            <a:r>
              <a:rPr lang="en-US" sz="2800" b="1" noProof="1">
                <a:solidFill>
                  <a:schemeClr val="tx1">
                    <a:lumMod val="65000"/>
                    <a:lumOff val="35000"/>
                  </a:schemeClr>
                </a:solidFill>
              </a:rPr>
              <a:t>dESCRIPTION</a:t>
            </a:r>
            <a:endParaRPr lang="en-US">
              <a:solidFill>
                <a:schemeClr val="tx1">
                  <a:lumMod val="65000"/>
                  <a:lumOff val="35000"/>
                </a:schemeClr>
              </a:solidFill>
            </a:endParaRPr>
          </a:p>
        </p:txBody>
      </p:sp>
      <p:sp>
        <p:nvSpPr>
          <p:cNvPr id="37" name="Text Placeholder 6">
            <a:extLst>
              <a:ext uri="{FF2B5EF4-FFF2-40B4-BE49-F238E27FC236}">
                <a16:creationId xmlns:a16="http://schemas.microsoft.com/office/drawing/2014/main" id="{A46E859A-B9E3-EE3D-3410-E566ED9DA40A}"/>
              </a:ext>
            </a:extLst>
          </p:cNvPr>
          <p:cNvSpPr txBox="1">
            <a:spLocks/>
          </p:cNvSpPr>
          <p:nvPr/>
        </p:nvSpPr>
        <p:spPr>
          <a:xfrm>
            <a:off x="333828" y="2570340"/>
            <a:ext cx="5431971" cy="3682150"/>
          </a:xfrm>
          <a:prstGeom prst="rect">
            <a:avLst/>
          </a:prstGeom>
        </p:spPr>
        <p:txBody>
          <a:bodyPr vert="horz" lIns="91440" tIns="45720" rIns="91440" bIns="45720" rtlCol="0" anchor="t">
            <a:normAutofit/>
          </a:bodyPr>
          <a:lstStyle>
            <a:lvl1pPr marL="0" indent="0" algn="r" defTabSz="914400" rtl="0" eaLnBrk="1" latinLnBrk="0" hangingPunct="1">
              <a:lnSpc>
                <a:spcPct val="90000"/>
              </a:lnSpc>
              <a:spcBef>
                <a:spcPts val="1000"/>
              </a:spcBef>
              <a:buFont typeface="Arial" panose="020B0604020202020204" pitchFamily="34" charset="0"/>
              <a:buNone/>
              <a:defRPr sz="1600" kern="1200" cap="all" spc="1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000" noProof="1"/>
              <a:t>Ensures that the development, communication, and needs of the team and customer are balanced in a way to maintain efficiency in delivering desired results to customers. Acts as a middle-man between the PRODUCT MANAGER and the team to ensure that the developmental direction satifies the needs of the customer.</a:t>
            </a:r>
            <a:endParaRPr lang="en-US" sz="2000" noProof="1">
              <a:solidFill>
                <a:srgbClr val="000000"/>
              </a:solidFill>
            </a:endParaRPr>
          </a:p>
          <a:p>
            <a:pPr algn="l"/>
            <a:endParaRPr lang="en-US" noProof="1"/>
          </a:p>
        </p:txBody>
      </p:sp>
      <p:sp>
        <p:nvSpPr>
          <p:cNvPr id="39" name="Text Placeholder 7">
            <a:extLst>
              <a:ext uri="{FF2B5EF4-FFF2-40B4-BE49-F238E27FC236}">
                <a16:creationId xmlns:a16="http://schemas.microsoft.com/office/drawing/2014/main" id="{633A4ECA-3FD3-E8AB-5757-C87FCF4D950D}"/>
              </a:ext>
            </a:extLst>
          </p:cNvPr>
          <p:cNvSpPr txBox="1">
            <a:spLocks/>
          </p:cNvSpPr>
          <p:nvPr/>
        </p:nvSpPr>
        <p:spPr>
          <a:xfrm>
            <a:off x="6100054" y="1981811"/>
            <a:ext cx="5433204" cy="3651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noProof="1">
                <a:solidFill>
                  <a:schemeClr val="tx1">
                    <a:lumMod val="65000"/>
                    <a:lumOff val="35000"/>
                  </a:schemeClr>
                </a:solidFill>
              </a:rPr>
              <a:t>RESPONSIBILITIES</a:t>
            </a:r>
            <a:endParaRPr lang="en-US">
              <a:solidFill>
                <a:schemeClr val="tx1">
                  <a:lumMod val="65000"/>
                  <a:lumOff val="35000"/>
                </a:schemeClr>
              </a:solidFill>
            </a:endParaRPr>
          </a:p>
          <a:p>
            <a:endParaRPr lang="en-US" b="1" noProof="1">
              <a:solidFill>
                <a:schemeClr val="tx1">
                  <a:lumMod val="65000"/>
                  <a:lumOff val="35000"/>
                </a:schemeClr>
              </a:solidFill>
            </a:endParaRPr>
          </a:p>
        </p:txBody>
      </p:sp>
      <p:sp>
        <p:nvSpPr>
          <p:cNvPr id="41" name="Text Placeholder 8">
            <a:extLst>
              <a:ext uri="{FF2B5EF4-FFF2-40B4-BE49-F238E27FC236}">
                <a16:creationId xmlns:a16="http://schemas.microsoft.com/office/drawing/2014/main" id="{26A38338-C9CF-ACB2-8152-361827C3E603}"/>
              </a:ext>
            </a:extLst>
          </p:cNvPr>
          <p:cNvSpPr txBox="1">
            <a:spLocks/>
          </p:cNvSpPr>
          <p:nvPr/>
        </p:nvSpPr>
        <p:spPr>
          <a:xfrm>
            <a:off x="6099628" y="2565236"/>
            <a:ext cx="5431971" cy="3682150"/>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cap="all" noProof="1"/>
              <a:t>Communicates product goal to team</a:t>
            </a:r>
            <a:endParaRPr lang="en-US" sz="2000" noProof="1">
              <a:solidFill>
                <a:srgbClr val="000000"/>
              </a:solidFill>
            </a:endParaRPr>
          </a:p>
          <a:p>
            <a:r>
              <a:rPr lang="en-US" sz="2000" cap="all" noProof="1">
                <a:solidFill>
                  <a:srgbClr val="404040"/>
                </a:solidFill>
              </a:rPr>
              <a:t>Aligns product backlog with the product goal by prioritizing work</a:t>
            </a:r>
          </a:p>
          <a:p>
            <a:r>
              <a:rPr lang="en-US" sz="2000" cap="all" noProof="1"/>
              <a:t>Holds accountability for backlog and any delegation</a:t>
            </a:r>
          </a:p>
          <a:p>
            <a:r>
              <a:rPr lang="en-US" sz="2000" cap="all" noProof="1"/>
              <a:t>Ensures team is adhering to backlog</a:t>
            </a:r>
          </a:p>
          <a:p>
            <a:r>
              <a:rPr lang="en-US" sz="2000" cap="all" noProof="1"/>
              <a:t>Understands their product in a market context</a:t>
            </a:r>
          </a:p>
          <a:p>
            <a:r>
              <a:rPr lang="en-US" sz="2000" cap="all" noProof="1"/>
              <a:t>Maintains Drive to deliver appropriate and efficient products</a:t>
            </a:r>
          </a:p>
          <a:p>
            <a:r>
              <a:rPr lang="en-US" sz="2000" cap="all" noProof="1"/>
              <a:t>Communicates with product manager to achieve desired yet producible results</a:t>
            </a:r>
          </a:p>
          <a:p>
            <a:endParaRPr lang="en-US" sz="2000" cap="all" noProof="1"/>
          </a:p>
          <a:p>
            <a:endParaRPr lang="en-US" sz="2000" cap="all" noProof="1"/>
          </a:p>
          <a:p>
            <a:endParaRPr lang="en-US" sz="2000" cap="all" noProof="1"/>
          </a:p>
          <a:p>
            <a:endParaRPr lang="en-US" noProof="1"/>
          </a:p>
        </p:txBody>
      </p:sp>
    </p:spTree>
    <p:extLst>
      <p:ext uri="{BB962C8B-B14F-4D97-AF65-F5344CB8AC3E}">
        <p14:creationId xmlns:p14="http://schemas.microsoft.com/office/powerpoint/2010/main" val="1738561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907469" y="873371"/>
            <a:ext cx="5431971" cy="846301"/>
          </a:xfrm>
        </p:spPr>
        <p:txBody>
          <a:bodyPr>
            <a:normAutofit/>
          </a:bodyPr>
          <a:lstStyle/>
          <a:p>
            <a:r>
              <a:rPr lang="en-US" sz="4800" b="1">
                <a:solidFill>
                  <a:schemeClr val="accent1">
                    <a:lumMod val="49000"/>
                  </a:schemeClr>
                </a:solidFill>
              </a:rPr>
              <a:t>SCRUM MASTER</a:t>
            </a:r>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13"/>
          </p:nvPr>
        </p:nvSpPr>
        <p:spPr>
          <a:xfrm>
            <a:off x="473954" y="1999615"/>
            <a:ext cx="5204604" cy="365125"/>
          </a:xfrm>
        </p:spPr>
        <p:txBody>
          <a:bodyPr vert="horz" lIns="91440" tIns="45720" rIns="91440" bIns="45720" rtlCol="0" anchor="t">
            <a:noAutofit/>
          </a:bodyPr>
          <a:lstStyle/>
          <a:p>
            <a:r>
              <a:rPr lang="en-US" sz="2800" b="1" noProof="1">
                <a:solidFill>
                  <a:schemeClr val="tx1">
                    <a:lumMod val="65000"/>
                    <a:lumOff val="35000"/>
                  </a:schemeClr>
                </a:solidFill>
              </a:rPr>
              <a:t>dESCRIPTION</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473528" y="2506840"/>
            <a:ext cx="4720771" cy="2285150"/>
          </a:xfrm>
        </p:spPr>
        <p:txBody>
          <a:bodyPr vert="horz" lIns="91440" tIns="45720" rIns="91440" bIns="45720" rtlCol="0" anchor="t">
            <a:normAutofit/>
          </a:bodyPr>
          <a:lstStyle/>
          <a:p>
            <a:r>
              <a:rPr lang="en-US" sz="2000" cap="all" noProof="1"/>
              <a:t>Leads their agile team in adopting and adhering to any scrum and agile principles.</a:t>
            </a:r>
            <a:endParaRPr lang="en-US" sz="2000" cap="all" noProof="1">
              <a:solidFill>
                <a:srgbClr val="404040"/>
              </a:solidFill>
            </a:endParaRPr>
          </a:p>
          <a:p>
            <a:endParaRPr lang="en-US" noProof="1"/>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23"/>
          </p:nvPr>
        </p:nvSpPr>
        <p:spPr>
          <a:xfrm>
            <a:off x="5198354" y="1994511"/>
            <a:ext cx="6131704" cy="365125"/>
          </a:xfrm>
        </p:spPr>
        <p:txBody>
          <a:bodyPr vert="horz" lIns="91440" tIns="45720" rIns="91440" bIns="45720" rtlCol="0" anchor="t">
            <a:noAutofit/>
          </a:bodyPr>
          <a:lstStyle/>
          <a:p>
            <a:r>
              <a:rPr lang="en-US" sz="2800" b="1" noProof="1">
                <a:solidFill>
                  <a:schemeClr val="tx1">
                    <a:lumMod val="65000"/>
                    <a:lumOff val="35000"/>
                  </a:schemeClr>
                </a:solidFill>
              </a:rPr>
              <a:t>RESPONSIBILITIES</a:t>
            </a:r>
          </a:p>
          <a:p>
            <a:endParaRPr lang="en-US" sz="2800" b="1" noProof="1">
              <a:solidFill>
                <a:schemeClr val="tx1">
                  <a:lumMod val="65000"/>
                  <a:lumOff val="35000"/>
                </a:schemeClr>
              </a:solidFill>
            </a:endParaRP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197928" y="2501736"/>
            <a:ext cx="6511471" cy="3529750"/>
          </a:xfrm>
        </p:spPr>
        <p:txBody>
          <a:bodyPr vert="horz" lIns="91440" tIns="45720" rIns="91440" bIns="45720" rtlCol="0" anchor="t">
            <a:normAutofit fontScale="92500" lnSpcReduction="10000"/>
          </a:bodyPr>
          <a:lstStyle/>
          <a:p>
            <a:pPr marL="342900" indent="-342900">
              <a:buChar char="•"/>
            </a:pPr>
            <a:r>
              <a:rPr lang="en-US" sz="2000" cap="all" noProof="1"/>
              <a:t>Ensuring transparency</a:t>
            </a:r>
            <a:endParaRPr lang="en-US" sz="2000" noProof="1">
              <a:solidFill>
                <a:srgbClr val="000000"/>
              </a:solidFill>
            </a:endParaRPr>
          </a:p>
          <a:p>
            <a:pPr marL="342900" indent="-342900">
              <a:buChar char="•"/>
            </a:pPr>
            <a:r>
              <a:rPr lang="en-US" sz="2000" cap="all" noProof="1">
                <a:solidFill>
                  <a:srgbClr val="404040"/>
                </a:solidFill>
              </a:rPr>
              <a:t>Removing impediments</a:t>
            </a:r>
          </a:p>
          <a:p>
            <a:pPr marL="342900" indent="-342900">
              <a:buChar char="•"/>
            </a:pPr>
            <a:r>
              <a:rPr lang="en-US" sz="2000" cap="all" noProof="1">
                <a:solidFill>
                  <a:srgbClr val="404040"/>
                </a:solidFill>
              </a:rPr>
              <a:t>Creating an enabling team environment</a:t>
            </a:r>
          </a:p>
          <a:p>
            <a:pPr marL="342900" indent="-342900">
              <a:buChar char="•"/>
            </a:pPr>
            <a:r>
              <a:rPr lang="en-US" sz="2000" cap="all" noProof="1">
                <a:solidFill>
                  <a:srgbClr val="404040"/>
                </a:solidFill>
              </a:rPr>
              <a:t>Inter-team collaboration</a:t>
            </a:r>
          </a:p>
          <a:p>
            <a:pPr marL="342900" indent="-342900">
              <a:buChar char="•"/>
            </a:pPr>
            <a:r>
              <a:rPr lang="en-US" sz="2000" cap="all" noProof="1">
                <a:solidFill>
                  <a:srgbClr val="404040"/>
                </a:solidFill>
              </a:rPr>
              <a:t>Communication w/ other scrum masters</a:t>
            </a:r>
          </a:p>
          <a:p>
            <a:pPr marL="342900" indent="-342900">
              <a:buChar char="•"/>
            </a:pPr>
            <a:r>
              <a:rPr lang="en-US" sz="2000" cap="all" noProof="1"/>
              <a:t>Coaching w/ scrum adoption</a:t>
            </a:r>
          </a:p>
          <a:p>
            <a:pPr marL="342900" indent="-342900">
              <a:buChar char="•"/>
            </a:pPr>
            <a:r>
              <a:rPr lang="en-US" sz="2000" cap="all" noProof="1"/>
              <a:t>Maintaining team's focus on sprint goal(s)</a:t>
            </a:r>
          </a:p>
          <a:p>
            <a:pPr marL="342900" indent="-342900">
              <a:buChar char="•"/>
            </a:pPr>
            <a:r>
              <a:rPr lang="en-US" sz="2000" cap="all" noProof="1"/>
              <a:t>Explaining proper use of scrum events to team members</a:t>
            </a:r>
          </a:p>
          <a:p>
            <a:pPr marL="342900" indent="-342900">
              <a:buChar char="•"/>
            </a:pPr>
            <a:endParaRPr lang="en-US" sz="2000" cap="all" noProof="1"/>
          </a:p>
          <a:p>
            <a:pPr marL="342900" indent="-342900">
              <a:buChar char="•"/>
            </a:pPr>
            <a:endParaRPr lang="en-US" sz="2000" cap="all" noProof="1"/>
          </a:p>
          <a:p>
            <a:pPr marL="342900" indent="-342900">
              <a:buChar char="•"/>
            </a:pPr>
            <a:endParaRPr lang="en-US" sz="2000" cap="all" noProof="1"/>
          </a:p>
          <a:p>
            <a:pPr marL="342900" indent="-342900">
              <a:buChar char="•"/>
            </a:pPr>
            <a:endParaRPr lang="en-US" sz="2000" cap="all" noProof="1"/>
          </a:p>
          <a:p>
            <a:endParaRPr lang="en-US" noProof="1"/>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a:lstStyle/>
          <a:p>
            <a:r>
              <a:rPr lang="en-US"/>
              <a:t>20XX</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a:lstStyle/>
          <a:p>
            <a:r>
              <a:rPr lang="en-US"/>
              <a:t>Pitch Deck</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pPr/>
              <a:t>10</a:t>
            </a:fld>
            <a:endParaRPr lang="en-US"/>
          </a:p>
        </p:txBody>
      </p:sp>
    </p:spTree>
    <p:extLst>
      <p:ext uri="{BB962C8B-B14F-4D97-AF65-F5344CB8AC3E}">
        <p14:creationId xmlns:p14="http://schemas.microsoft.com/office/powerpoint/2010/main" val="2069393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2600B4-5BE8-447C-8531-6CD75CB45735}"/>
              </a:ext>
            </a:extLst>
          </p:cNvPr>
          <p:cNvSpPr>
            <a:spLocks noGrp="1"/>
          </p:cNvSpPr>
          <p:nvPr>
            <p:ph type="dt" sz="half" idx="10"/>
          </p:nvPr>
        </p:nvSpPr>
        <p:spPr>
          <a:xfrm>
            <a:off x="838200" y="6356350"/>
            <a:ext cx="2743200" cy="365125"/>
          </a:xfrm>
        </p:spPr>
        <p:txBody>
          <a:bodyPr/>
          <a:lstStyle/>
          <a:p>
            <a:r>
              <a:rPr lang="en-US"/>
              <a:t>20XX</a:t>
            </a:r>
          </a:p>
        </p:txBody>
      </p:sp>
      <p:sp>
        <p:nvSpPr>
          <p:cNvPr id="3" name="Footer Placeholder 2">
            <a:extLst>
              <a:ext uri="{FF2B5EF4-FFF2-40B4-BE49-F238E27FC236}">
                <a16:creationId xmlns:a16="http://schemas.microsoft.com/office/drawing/2014/main" id="{217076FA-2B16-4A6F-9631-8D175CE7886C}"/>
              </a:ext>
            </a:extLst>
          </p:cNvPr>
          <p:cNvSpPr>
            <a:spLocks noGrp="1"/>
          </p:cNvSpPr>
          <p:nvPr>
            <p:ph type="ftr" sz="quarter" idx="11"/>
          </p:nvPr>
        </p:nvSpPr>
        <p:spPr>
          <a:xfrm>
            <a:off x="4038600" y="6356350"/>
            <a:ext cx="4114800" cy="365125"/>
          </a:xfrm>
        </p:spPr>
        <p:txBody>
          <a:bodyPr/>
          <a:lstStyle/>
          <a:p>
            <a:r>
              <a:rPr lang="en-US"/>
              <a:t>Pitch Deck</a:t>
            </a:r>
          </a:p>
        </p:txBody>
      </p:sp>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11</a:t>
            </a:fld>
            <a:endParaRPr lang="en-US"/>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10FD90DC-718E-D242-85F9-9EA31705DA15}"/>
              </a:ext>
            </a:extLst>
          </p:cNvPr>
          <p:cNvSpPr>
            <a:spLocks noGrp="1"/>
          </p:cNvSpPr>
          <p:nvPr>
            <p:ph type="title"/>
          </p:nvPr>
        </p:nvSpPr>
        <p:spPr>
          <a:xfrm>
            <a:off x="471869" y="873371"/>
            <a:ext cx="5431971" cy="846301"/>
          </a:xfrm>
        </p:spPr>
        <p:txBody>
          <a:bodyPr>
            <a:normAutofit/>
          </a:bodyPr>
          <a:lstStyle/>
          <a:p>
            <a:r>
              <a:rPr lang="en-US" sz="4800" b="1">
                <a:solidFill>
                  <a:schemeClr val="accent1">
                    <a:lumMod val="49000"/>
                  </a:schemeClr>
                </a:solidFill>
              </a:rPr>
              <a:t>TEAM MEMBER</a:t>
            </a:r>
          </a:p>
        </p:txBody>
      </p:sp>
      <p:sp>
        <p:nvSpPr>
          <p:cNvPr id="6" name="Text Placeholder 5">
            <a:extLst>
              <a:ext uri="{FF2B5EF4-FFF2-40B4-BE49-F238E27FC236}">
                <a16:creationId xmlns:a16="http://schemas.microsoft.com/office/drawing/2014/main" id="{CCAF2300-AD37-94E5-B8E2-AC3AA2EFC2D5}"/>
              </a:ext>
            </a:extLst>
          </p:cNvPr>
          <p:cNvSpPr txBox="1">
            <a:spLocks/>
          </p:cNvSpPr>
          <p:nvPr/>
        </p:nvSpPr>
        <p:spPr>
          <a:xfrm>
            <a:off x="473954" y="1999615"/>
            <a:ext cx="5204604" cy="3651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noProof="1">
                <a:solidFill>
                  <a:schemeClr val="tx1">
                    <a:lumMod val="65000"/>
                    <a:lumOff val="35000"/>
                  </a:schemeClr>
                </a:solidFill>
              </a:rPr>
              <a:t>DESCRIPTION</a:t>
            </a:r>
            <a:endParaRPr lang="en-US">
              <a:solidFill>
                <a:schemeClr val="tx1">
                  <a:lumMod val="65000"/>
                  <a:lumOff val="35000"/>
                </a:schemeClr>
              </a:solidFill>
            </a:endParaRPr>
          </a:p>
        </p:txBody>
      </p:sp>
      <p:sp>
        <p:nvSpPr>
          <p:cNvPr id="8" name="Text Placeholder 6">
            <a:extLst>
              <a:ext uri="{FF2B5EF4-FFF2-40B4-BE49-F238E27FC236}">
                <a16:creationId xmlns:a16="http://schemas.microsoft.com/office/drawing/2014/main" id="{14989504-1E9E-1B96-396D-71E9F806D5AD}"/>
              </a:ext>
            </a:extLst>
          </p:cNvPr>
          <p:cNvSpPr txBox="1">
            <a:spLocks/>
          </p:cNvSpPr>
          <p:nvPr/>
        </p:nvSpPr>
        <p:spPr>
          <a:xfrm>
            <a:off x="473528" y="2506840"/>
            <a:ext cx="4720771" cy="2285150"/>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lumMod val="65000"/>
                    <a:lumOff val="3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100" kern="1200">
                <a:solidFill>
                  <a:schemeClr val="tx1">
                    <a:lumMod val="65000"/>
                    <a:lumOff val="3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50" kern="1200">
                <a:solidFill>
                  <a:schemeClr val="tx1">
                    <a:lumMod val="65000"/>
                    <a:lumOff val="3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65000"/>
                    <a:lumOff val="3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cap="all" noProof="1"/>
              <a:t>Works with other team members to develop every part of the product. Their skills are directly dependent upon the needs of developing a specific product. Are accountable for the development of the product.</a:t>
            </a:r>
            <a:endParaRPr lang="en-US" sz="2000" cap="all" noProof="1">
              <a:solidFill>
                <a:srgbClr val="595959"/>
              </a:solidFill>
            </a:endParaRPr>
          </a:p>
          <a:p>
            <a:endParaRPr lang="en-US" noProof="1"/>
          </a:p>
        </p:txBody>
      </p:sp>
      <p:sp>
        <p:nvSpPr>
          <p:cNvPr id="11" name="Text Placeholder 7">
            <a:extLst>
              <a:ext uri="{FF2B5EF4-FFF2-40B4-BE49-F238E27FC236}">
                <a16:creationId xmlns:a16="http://schemas.microsoft.com/office/drawing/2014/main" id="{D476EE5C-B8F7-CAAC-E484-FED1B207F7F3}"/>
              </a:ext>
            </a:extLst>
          </p:cNvPr>
          <p:cNvSpPr txBox="1">
            <a:spLocks/>
          </p:cNvSpPr>
          <p:nvPr/>
        </p:nvSpPr>
        <p:spPr>
          <a:xfrm>
            <a:off x="5198354" y="1994511"/>
            <a:ext cx="6131704" cy="3651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noProof="1">
                <a:solidFill>
                  <a:schemeClr val="tx1">
                    <a:lumMod val="65000"/>
                    <a:lumOff val="35000"/>
                  </a:schemeClr>
                </a:solidFill>
              </a:rPr>
              <a:t>RESPONSIBILITIES</a:t>
            </a:r>
            <a:endParaRPr lang="en-US">
              <a:solidFill>
                <a:schemeClr val="tx1">
                  <a:lumMod val="65000"/>
                  <a:lumOff val="35000"/>
                </a:schemeClr>
              </a:solidFill>
            </a:endParaRPr>
          </a:p>
          <a:p>
            <a:endParaRPr lang="en-US" b="1" noProof="1">
              <a:solidFill>
                <a:schemeClr val="tx1">
                  <a:lumMod val="65000"/>
                  <a:lumOff val="35000"/>
                </a:schemeClr>
              </a:solidFill>
            </a:endParaRPr>
          </a:p>
        </p:txBody>
      </p:sp>
      <p:sp>
        <p:nvSpPr>
          <p:cNvPr id="14" name="Text Placeholder 8">
            <a:extLst>
              <a:ext uri="{FF2B5EF4-FFF2-40B4-BE49-F238E27FC236}">
                <a16:creationId xmlns:a16="http://schemas.microsoft.com/office/drawing/2014/main" id="{91E60881-A1F0-C8E7-C3F0-BC0F1A9A6EA1}"/>
              </a:ext>
            </a:extLst>
          </p:cNvPr>
          <p:cNvSpPr txBox="1">
            <a:spLocks/>
          </p:cNvSpPr>
          <p:nvPr/>
        </p:nvSpPr>
        <p:spPr>
          <a:xfrm>
            <a:off x="5197928" y="2501736"/>
            <a:ext cx="6511471" cy="352975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sz="2000" cap="all" noProof="1"/>
              <a:t>Producing the planning increments during sprints</a:t>
            </a:r>
          </a:p>
          <a:p>
            <a:pPr marL="342900" indent="-342900"/>
            <a:r>
              <a:rPr lang="en-US" sz="2000" cap="all" noProof="1"/>
              <a:t>Considering the progress made and changes necessary to reach sprint goal</a:t>
            </a:r>
          </a:p>
          <a:p>
            <a:pPr marL="342900" indent="-342900"/>
            <a:r>
              <a:rPr lang="en-US" sz="2000" cap="all" noProof="1"/>
              <a:t>Synchronizing and collaborating daily to develop team-wide understanding of sprint goal and any necessary pivots</a:t>
            </a:r>
          </a:p>
          <a:p>
            <a:pPr marL="342900" indent="-342900"/>
            <a:r>
              <a:rPr lang="en-US" sz="2000" cap="all" noProof="1"/>
              <a:t>Providing assistance to product owner in streamlining the development process and making important decisions</a:t>
            </a:r>
          </a:p>
          <a:p>
            <a:pPr marL="342900" indent="-342900"/>
            <a:endParaRPr lang="en-US" sz="2000" cap="all" noProof="1"/>
          </a:p>
          <a:p>
            <a:pPr marL="342900" indent="-342900"/>
            <a:endParaRPr lang="en-US" sz="2000" cap="all" noProof="1"/>
          </a:p>
          <a:p>
            <a:endParaRPr lang="en-US" noProof="1"/>
          </a:p>
        </p:txBody>
      </p:sp>
    </p:spTree>
    <p:extLst>
      <p:ext uri="{BB962C8B-B14F-4D97-AF65-F5344CB8AC3E}">
        <p14:creationId xmlns:p14="http://schemas.microsoft.com/office/powerpoint/2010/main" val="473871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115A6C-5E86-4863-EEB0-019FF391A948}"/>
              </a:ext>
            </a:extLst>
          </p:cNvPr>
          <p:cNvSpPr>
            <a:spLocks noGrp="1"/>
          </p:cNvSpPr>
          <p:nvPr>
            <p:ph type="body" sz="quarter" idx="13"/>
          </p:nvPr>
        </p:nvSpPr>
        <p:spPr>
          <a:xfrm>
            <a:off x="-116435" y="1556468"/>
            <a:ext cx="2713057" cy="546824"/>
          </a:xfrm>
        </p:spPr>
        <p:txBody>
          <a:bodyPr/>
          <a:lstStyle/>
          <a:p>
            <a:r>
              <a:rPr lang="en-US" sz="1800" b="1"/>
              <a:t>Product manager</a:t>
            </a:r>
            <a:endParaRPr lang="en-US" sz="1800"/>
          </a:p>
        </p:txBody>
      </p:sp>
      <p:sp>
        <p:nvSpPr>
          <p:cNvPr id="4" name="Text Placeholder 3">
            <a:extLst>
              <a:ext uri="{FF2B5EF4-FFF2-40B4-BE49-F238E27FC236}">
                <a16:creationId xmlns:a16="http://schemas.microsoft.com/office/drawing/2014/main" id="{CC588AF5-FF2D-1664-61F2-E97B53637DD9}"/>
              </a:ext>
            </a:extLst>
          </p:cNvPr>
          <p:cNvSpPr>
            <a:spLocks noGrp="1"/>
          </p:cNvSpPr>
          <p:nvPr>
            <p:ph type="body" sz="quarter" idx="14"/>
          </p:nvPr>
        </p:nvSpPr>
        <p:spPr>
          <a:xfrm>
            <a:off x="-132291" y="2593748"/>
            <a:ext cx="3012620" cy="478065"/>
          </a:xfrm>
        </p:spPr>
        <p:txBody>
          <a:bodyPr/>
          <a:lstStyle/>
          <a:p>
            <a:r>
              <a:rPr lang="en-US" sz="1800" b="1"/>
              <a:t>Product owner</a:t>
            </a:r>
          </a:p>
        </p:txBody>
      </p:sp>
      <p:sp>
        <p:nvSpPr>
          <p:cNvPr id="5" name="Text Placeholder 4">
            <a:extLst>
              <a:ext uri="{FF2B5EF4-FFF2-40B4-BE49-F238E27FC236}">
                <a16:creationId xmlns:a16="http://schemas.microsoft.com/office/drawing/2014/main" id="{3C7D3D98-5399-60F4-0CA7-B251413790BD}"/>
              </a:ext>
            </a:extLst>
          </p:cNvPr>
          <p:cNvSpPr>
            <a:spLocks noGrp="1"/>
          </p:cNvSpPr>
          <p:nvPr>
            <p:ph type="body" sz="quarter" idx="15"/>
          </p:nvPr>
        </p:nvSpPr>
        <p:spPr/>
        <p:txBody>
          <a:bodyPr/>
          <a:lstStyle/>
          <a:p>
            <a:r>
              <a:rPr lang="en-US" b="1"/>
              <a:t>Scrum master</a:t>
            </a:r>
          </a:p>
        </p:txBody>
      </p:sp>
      <p:sp>
        <p:nvSpPr>
          <p:cNvPr id="6" name="Text Placeholder 5">
            <a:extLst>
              <a:ext uri="{FF2B5EF4-FFF2-40B4-BE49-F238E27FC236}">
                <a16:creationId xmlns:a16="http://schemas.microsoft.com/office/drawing/2014/main" id="{DAA298E4-B036-7A1A-05E4-FF232F2BC2B7}"/>
              </a:ext>
            </a:extLst>
          </p:cNvPr>
          <p:cNvSpPr>
            <a:spLocks noGrp="1"/>
          </p:cNvSpPr>
          <p:nvPr>
            <p:ph type="body" sz="quarter" idx="16"/>
          </p:nvPr>
        </p:nvSpPr>
        <p:spPr/>
        <p:txBody>
          <a:bodyPr/>
          <a:lstStyle/>
          <a:p>
            <a:r>
              <a:rPr lang="en-US" b="1"/>
              <a:t>Team MEMBERS</a:t>
            </a:r>
          </a:p>
        </p:txBody>
      </p:sp>
      <p:sp>
        <p:nvSpPr>
          <p:cNvPr id="7" name="Text Placeholder 6">
            <a:extLst>
              <a:ext uri="{FF2B5EF4-FFF2-40B4-BE49-F238E27FC236}">
                <a16:creationId xmlns:a16="http://schemas.microsoft.com/office/drawing/2014/main" id="{04415572-68B4-DA87-F982-659EE0AA8913}"/>
              </a:ext>
            </a:extLst>
          </p:cNvPr>
          <p:cNvSpPr>
            <a:spLocks noGrp="1"/>
          </p:cNvSpPr>
          <p:nvPr>
            <p:ph type="body" sz="quarter" idx="17"/>
          </p:nvPr>
        </p:nvSpPr>
        <p:spPr/>
        <p:txBody>
          <a:bodyPr>
            <a:normAutofit/>
          </a:bodyPr>
          <a:lstStyle/>
          <a:p>
            <a:r>
              <a:rPr lang="en-US" sz="2000"/>
              <a:t>Jonathan Little</a:t>
            </a:r>
          </a:p>
        </p:txBody>
      </p:sp>
      <p:sp>
        <p:nvSpPr>
          <p:cNvPr id="8" name="Text Placeholder 7">
            <a:extLst>
              <a:ext uri="{FF2B5EF4-FFF2-40B4-BE49-F238E27FC236}">
                <a16:creationId xmlns:a16="http://schemas.microsoft.com/office/drawing/2014/main" id="{95DDBC27-F672-F63F-957F-2B7E1E33AFC5}"/>
              </a:ext>
            </a:extLst>
          </p:cNvPr>
          <p:cNvSpPr>
            <a:spLocks noGrp="1"/>
          </p:cNvSpPr>
          <p:nvPr>
            <p:ph type="body" sz="quarter" idx="18"/>
          </p:nvPr>
        </p:nvSpPr>
        <p:spPr/>
        <p:txBody>
          <a:bodyPr>
            <a:normAutofit/>
          </a:bodyPr>
          <a:lstStyle/>
          <a:p>
            <a:r>
              <a:rPr lang="en-US" sz="2000"/>
              <a:t>Joshua Hanscom</a:t>
            </a:r>
          </a:p>
        </p:txBody>
      </p:sp>
      <p:sp>
        <p:nvSpPr>
          <p:cNvPr id="9" name="Text Placeholder 8">
            <a:extLst>
              <a:ext uri="{FF2B5EF4-FFF2-40B4-BE49-F238E27FC236}">
                <a16:creationId xmlns:a16="http://schemas.microsoft.com/office/drawing/2014/main" id="{8E237CB6-883E-D1F9-90A3-0FD0001F8969}"/>
              </a:ext>
            </a:extLst>
          </p:cNvPr>
          <p:cNvSpPr>
            <a:spLocks noGrp="1"/>
          </p:cNvSpPr>
          <p:nvPr>
            <p:ph type="body" sz="quarter" idx="19"/>
          </p:nvPr>
        </p:nvSpPr>
        <p:spPr/>
        <p:txBody>
          <a:bodyPr>
            <a:normAutofit/>
          </a:bodyPr>
          <a:lstStyle/>
          <a:p>
            <a:r>
              <a:rPr lang="en-US" sz="2000"/>
              <a:t>Abigail Diaz</a:t>
            </a:r>
            <a:endParaRPr lang="en-US" sz="2000">
              <a:ea typeface="+mn-lt"/>
              <a:cs typeface="+mn-lt"/>
            </a:endParaRPr>
          </a:p>
          <a:p>
            <a:endParaRPr lang="en-US" sz="1600">
              <a:ea typeface="+mn-lt"/>
              <a:cs typeface="+mn-lt"/>
            </a:endParaRPr>
          </a:p>
        </p:txBody>
      </p:sp>
      <p:sp>
        <p:nvSpPr>
          <p:cNvPr id="10" name="Text Placeholder 9">
            <a:extLst>
              <a:ext uri="{FF2B5EF4-FFF2-40B4-BE49-F238E27FC236}">
                <a16:creationId xmlns:a16="http://schemas.microsoft.com/office/drawing/2014/main" id="{965BB0F2-DABE-F3A1-DD31-BDF0DA611EDD}"/>
              </a:ext>
            </a:extLst>
          </p:cNvPr>
          <p:cNvSpPr>
            <a:spLocks noGrp="1"/>
          </p:cNvSpPr>
          <p:nvPr>
            <p:ph type="body" sz="quarter" idx="20"/>
          </p:nvPr>
        </p:nvSpPr>
        <p:spPr>
          <a:xfrm>
            <a:off x="6163184" y="4788145"/>
            <a:ext cx="5551190" cy="1760746"/>
          </a:xfrm>
        </p:spPr>
        <p:txBody>
          <a:bodyPr>
            <a:normAutofit/>
          </a:bodyPr>
          <a:lstStyle/>
          <a:p>
            <a:r>
              <a:rPr lang="en-US" sz="2000">
                <a:ea typeface="+mn-lt"/>
                <a:cs typeface="+mn-lt"/>
              </a:rPr>
              <a:t>Joshua Hanscom, Abigail Diaz, Ahin Huq, Charlie Kaing, Alvin Sun, Brook </a:t>
            </a:r>
            <a:r>
              <a:rPr lang="en-US" sz="2000" err="1">
                <a:ea typeface="+mn-lt"/>
                <a:cs typeface="+mn-lt"/>
              </a:rPr>
              <a:t>Alamnew</a:t>
            </a:r>
            <a:r>
              <a:rPr lang="en-US" sz="2000">
                <a:ea typeface="+mn-lt"/>
                <a:cs typeface="+mn-lt"/>
              </a:rPr>
              <a:t>, Jonathan Little, Kenia Sanchez-Macario, Leonardo Granados-Castillo </a:t>
            </a:r>
            <a:endParaRPr lang="en-US" sz="2000"/>
          </a:p>
        </p:txBody>
      </p:sp>
      <p:sp>
        <p:nvSpPr>
          <p:cNvPr id="11" name="Date Placeholder 10">
            <a:extLst>
              <a:ext uri="{FF2B5EF4-FFF2-40B4-BE49-F238E27FC236}">
                <a16:creationId xmlns:a16="http://schemas.microsoft.com/office/drawing/2014/main" id="{633F5891-8C1A-D408-59E4-0DC757C58F69}"/>
              </a:ext>
            </a:extLst>
          </p:cNvPr>
          <p:cNvSpPr>
            <a:spLocks noGrp="1"/>
          </p:cNvSpPr>
          <p:nvPr>
            <p:ph type="dt" sz="half" idx="10"/>
          </p:nvPr>
        </p:nvSpPr>
        <p:spPr/>
        <p:txBody>
          <a:bodyPr/>
          <a:lstStyle/>
          <a:p>
            <a:r>
              <a:rPr lang="en-US"/>
              <a:t>20XX</a:t>
            </a:r>
          </a:p>
        </p:txBody>
      </p:sp>
      <p:sp>
        <p:nvSpPr>
          <p:cNvPr id="12" name="Footer Placeholder 11">
            <a:extLst>
              <a:ext uri="{FF2B5EF4-FFF2-40B4-BE49-F238E27FC236}">
                <a16:creationId xmlns:a16="http://schemas.microsoft.com/office/drawing/2014/main" id="{71768FF0-BACE-D855-FBF9-7463E8D189A6}"/>
              </a:ext>
            </a:extLst>
          </p:cNvPr>
          <p:cNvSpPr>
            <a:spLocks noGrp="1"/>
          </p:cNvSpPr>
          <p:nvPr>
            <p:ph type="ftr" sz="quarter" idx="11"/>
          </p:nvPr>
        </p:nvSpPr>
        <p:spPr/>
        <p:txBody>
          <a:bodyPr/>
          <a:lstStyle/>
          <a:p>
            <a:r>
              <a:rPr lang="en-US"/>
              <a:t>Pitch Deck</a:t>
            </a:r>
          </a:p>
        </p:txBody>
      </p:sp>
      <p:sp>
        <p:nvSpPr>
          <p:cNvPr id="13" name="Slide Number Placeholder 12">
            <a:extLst>
              <a:ext uri="{FF2B5EF4-FFF2-40B4-BE49-F238E27FC236}">
                <a16:creationId xmlns:a16="http://schemas.microsoft.com/office/drawing/2014/main" id="{432FE561-AA72-FB62-0422-64AF7B7DD57C}"/>
              </a:ext>
            </a:extLst>
          </p:cNvPr>
          <p:cNvSpPr>
            <a:spLocks noGrp="1"/>
          </p:cNvSpPr>
          <p:nvPr>
            <p:ph type="sldNum" sz="quarter" idx="12"/>
          </p:nvPr>
        </p:nvSpPr>
        <p:spPr/>
        <p:txBody>
          <a:bodyPr/>
          <a:lstStyle/>
          <a:p>
            <a:fld id="{B5CEABB6-07DC-46E8-9B57-56EC44A396E5}" type="slidenum">
              <a:rPr lang="en-US" smtClean="0"/>
              <a:t>12</a:t>
            </a:fld>
            <a:endParaRPr lang="en-US"/>
          </a:p>
        </p:txBody>
      </p:sp>
      <p:sp>
        <p:nvSpPr>
          <p:cNvPr id="14" name="TextBox 13">
            <a:extLst>
              <a:ext uri="{FF2B5EF4-FFF2-40B4-BE49-F238E27FC236}">
                <a16:creationId xmlns:a16="http://schemas.microsoft.com/office/drawing/2014/main" id="{DB503CD9-65B1-0345-3A15-E8050B05E0F8}"/>
              </a:ext>
            </a:extLst>
          </p:cNvPr>
          <p:cNvSpPr txBox="1"/>
          <p:nvPr/>
        </p:nvSpPr>
        <p:spPr>
          <a:xfrm>
            <a:off x="532584" y="595240"/>
            <a:ext cx="10833119"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a:solidFill>
                  <a:schemeClr val="accent1">
                    <a:lumMod val="49000"/>
                  </a:schemeClr>
                </a:solidFill>
              </a:rPr>
              <a:t>ASSIGNED ROLES (SUBJECT TO CHANGE)</a:t>
            </a:r>
          </a:p>
        </p:txBody>
      </p:sp>
    </p:spTree>
    <p:extLst>
      <p:ext uri="{BB962C8B-B14F-4D97-AF65-F5344CB8AC3E}">
        <p14:creationId xmlns:p14="http://schemas.microsoft.com/office/powerpoint/2010/main" val="2822898722"/>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6E94D4DF-24E6-4758-8701-2C20AC2BF2DD}" vid="{D9C778EE-A573-4D68-89BA-A3DB5F810E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8B084D-D430-4822-B3CB-DEADB2E7A5FC}">
  <ds:schemaRefs>
    <ds:schemaRef ds:uri="http://schemas.microsoft.com/sharepoint/v3/contenttype/forms"/>
  </ds:schemaRefs>
</ds:datastoreItem>
</file>

<file path=customXml/itemProps2.xml><?xml version="1.0" encoding="utf-8"?>
<ds:datastoreItem xmlns:ds="http://schemas.openxmlformats.org/officeDocument/2006/customXml" ds:itemID="{211845F9-C5F4-4AA5-BA9E-EC2182E91488}">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15BFCE94-6EC9-4D8E-89B6-C22DE7AD70C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Monoline</vt:lpstr>
      <vt:lpstr>Change management plan &amp; Role descriptions</vt:lpstr>
      <vt:lpstr>What is a change management plan?</vt:lpstr>
      <vt:lpstr>PowerPoint Presentation</vt:lpstr>
      <vt:lpstr>Process flow</vt:lpstr>
      <vt:lpstr>General Timeline</vt:lpstr>
      <vt:lpstr>Art Roles &amp; Responsibilities</vt:lpstr>
      <vt:lpstr>PowerPoint Presentation</vt:lpstr>
      <vt:lpstr>Team Roles &amp; Responsibilities</vt:lpstr>
      <vt:lpstr>PRODUCT OWNER</vt:lpstr>
      <vt:lpstr>SCRUM MASTER</vt:lpstr>
      <vt:lpstr>TEAM MEMBER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5</cp:revision>
  <dcterms:created xsi:type="dcterms:W3CDTF">2024-09-26T22:17:28Z</dcterms:created>
  <dcterms:modified xsi:type="dcterms:W3CDTF">2024-12-06T22:09:23Z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